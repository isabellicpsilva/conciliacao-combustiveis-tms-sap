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68" r:id="rId5"/>
    <p:sldId id="269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683160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0"/>
            <a:ext cx="2926080" cy="5143500"/>
          </a:xfrm>
          <a:prstGeom prst="rect">
            <a:avLst/>
          </a:prstGeom>
          <a:solidFill>
            <a:srgbClr val="0F1E30"/>
          </a:solidFill>
          <a:ln w="12700">
            <a:solidFill>
              <a:srgbClr val="0F1E3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6172200" y="0"/>
            <a:ext cx="45720" cy="514350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chemeClr val="tx1"/>
          </a:solidFill>
          <a:ln w="12700">
            <a:solidFill>
              <a:srgbClr val="0A0A0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0" y="4572000"/>
            <a:ext cx="9144000" cy="36576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4"/>
          <p:cNvSpPr/>
          <p:nvPr/>
        </p:nvSpPr>
        <p:spPr>
          <a:xfrm>
            <a:off x="502920" y="1554480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INSTRUÇÃO DE TRABALHO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02920" y="1920240"/>
            <a:ext cx="5486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Conciliação de</a:t>
            </a:r>
            <a:endParaRPr lang="en-US" sz="3600" dirty="0"/>
          </a:p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Combustíveis</a:t>
            </a:r>
            <a:endParaRPr lang="en-US" sz="3600" dirty="0"/>
          </a:p>
        </p:txBody>
      </p:sp>
      <p:sp>
        <p:nvSpPr>
          <p:cNvPr id="9" name="Text 6"/>
          <p:cNvSpPr/>
          <p:nvPr/>
        </p:nvSpPr>
        <p:spPr>
          <a:xfrm>
            <a:off x="502920" y="3429000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B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cruzar os dados do TMS com o SAP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9B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verificar os lançamentos de combustível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502920" y="466344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A7A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Versão 2026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6492240" y="1463040"/>
            <a:ext cx="2286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TMS</a:t>
            </a:r>
            <a:endParaRPr lang="en-US" sz="2800" dirty="0"/>
          </a:p>
          <a:p>
            <a:pPr marL="0" indent="0" algn="ctr">
              <a:buNone/>
            </a:pPr>
            <a:r>
              <a:rPr lang="en-US" sz="28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</a:t>
            </a:r>
            <a:endParaRPr lang="en-US" sz="2800" dirty="0"/>
          </a:p>
          <a:p>
            <a:pPr marL="0" indent="0" algn="ctr">
              <a:buNone/>
            </a:pPr>
            <a:r>
              <a:rPr lang="en-US" sz="28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</a:t>
            </a:r>
            <a:endParaRPr lang="en-US" sz="2800" dirty="0"/>
          </a:p>
        </p:txBody>
      </p:sp>
      <p:sp>
        <p:nvSpPr>
          <p:cNvPr id="12" name="Text 9"/>
          <p:cNvSpPr/>
          <p:nvPr/>
        </p:nvSpPr>
        <p:spPr>
          <a:xfrm>
            <a:off x="6400800" y="3337560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A9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Conciliação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A9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Combustíveis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A9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chemeClr val="tx1"/>
          </a:solidFill>
          <a:ln w="12700">
            <a:solidFill>
              <a:srgbClr val="0D0D0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475488"/>
            <a:ext cx="9144000" cy="36576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2"/>
          <p:cNvSpPr/>
          <p:nvPr/>
        </p:nvSpPr>
        <p:spPr>
          <a:xfrm>
            <a:off x="2103120" y="557784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é essa conciliação?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365760" y="100584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Temos dois sistemas que registram os abastecimentos de combustível: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365760" y="1344168"/>
            <a:ext cx="38404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8" name="Shape 5"/>
          <p:cNvSpPr/>
          <p:nvPr/>
        </p:nvSpPr>
        <p:spPr>
          <a:xfrm>
            <a:off x="365760" y="1344168"/>
            <a:ext cx="3840480" cy="256032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6"/>
          <p:cNvSpPr/>
          <p:nvPr/>
        </p:nvSpPr>
        <p:spPr>
          <a:xfrm>
            <a:off x="457200" y="1362456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TMS — Sistema de Gestão de Transporte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457200" y="1709928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feito pelo motorista no momento do abastecimento</a:t>
            </a:r>
            <a:r>
              <a:rPr lang="en-US" sz="95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
</a:t>
            </a:r>
            <a:r>
              <a:rPr lang="en-US" sz="95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Contém: </a:t>
            </a:r>
            <a:r>
              <a:rPr lang="en-US" sz="95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placa, posto, combustível, litros, valor e data do abastecimento.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4572000" y="1344168"/>
            <a:ext cx="42062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2" name="Shape 9"/>
          <p:cNvSpPr/>
          <p:nvPr/>
        </p:nvSpPr>
        <p:spPr>
          <a:xfrm>
            <a:off x="4572000" y="1344168"/>
            <a:ext cx="4206240" cy="25603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0"/>
          <p:cNvSpPr/>
          <p:nvPr/>
        </p:nvSpPr>
        <p:spPr>
          <a:xfrm>
            <a:off x="4663440" y="1362456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 — Sistema Financeiro (Razão)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4663440" y="1709928"/>
            <a:ext cx="4114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feito quando o posto emite a nota fiscal.
</a:t>
            </a:r>
            <a:r>
              <a:rPr lang="en-US" sz="95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Contém: </a:t>
            </a:r>
            <a:r>
              <a:rPr lang="en-US" sz="95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nome do posto (diferente do TMS), valor e data de </a:t>
            </a:r>
            <a:r>
              <a:rPr lang="en-US" sz="950" dirty="0" err="1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lançamento</a:t>
            </a:r>
            <a:r>
              <a:rPr lang="en-US" sz="95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</a:t>
            </a:r>
            <a:r>
              <a:rPr lang="en-US" sz="950" dirty="0" err="1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emissão</a:t>
            </a:r>
            <a:r>
              <a:rPr lang="en-US" sz="95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contábil.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4224528" y="1737360"/>
            <a:ext cx="329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≠</a:t>
            </a:r>
            <a:endParaRPr lang="en-US" sz="2200" dirty="0"/>
          </a:p>
        </p:txBody>
      </p:sp>
      <p:sp>
        <p:nvSpPr>
          <p:cNvPr id="16" name="Shape 13"/>
          <p:cNvSpPr/>
          <p:nvPr/>
        </p:nvSpPr>
        <p:spPr>
          <a:xfrm>
            <a:off x="365760" y="3154680"/>
            <a:ext cx="8412480" cy="1664208"/>
          </a:xfrm>
          <a:prstGeom prst="rect">
            <a:avLst/>
          </a:prstGeom>
          <a:solidFill>
            <a:srgbClr val="EBF4FB"/>
          </a:solidFill>
          <a:ln w="1270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Shape 14"/>
          <p:cNvSpPr/>
          <p:nvPr/>
        </p:nvSpPr>
        <p:spPr>
          <a:xfrm>
            <a:off x="365760" y="3154680"/>
            <a:ext cx="64008" cy="1664208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5"/>
          <p:cNvSpPr/>
          <p:nvPr/>
        </p:nvSpPr>
        <p:spPr>
          <a:xfrm>
            <a:off x="502920" y="320954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Objetivo da conciliação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502920" y="3529584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Cruzar os registros dos dois sistemas e confirmar se os valores pagos no SAP correspondem aos abastecimentos registrados no TMS — identificando o que bateu, o que tem divergência e o que ainda não tem correspondência.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chemeClr val="tx1"/>
          </a:solidFill>
          <a:ln w="12700">
            <a:solidFill>
              <a:srgbClr val="0D0D0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475488"/>
            <a:ext cx="9144000" cy="36576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2"/>
          <p:cNvSpPr/>
          <p:nvPr/>
        </p:nvSpPr>
        <p:spPr>
          <a:xfrm>
            <a:off x="2103120" y="557784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Materiais necessários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365760" y="100584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vai precisar de três arquivos antes de começar: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365760" y="1371600"/>
            <a:ext cx="841248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8" name="Shape 5"/>
          <p:cNvSpPr/>
          <p:nvPr/>
        </p:nvSpPr>
        <p:spPr>
          <a:xfrm>
            <a:off x="365760" y="1371600"/>
            <a:ext cx="502920" cy="987552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6"/>
          <p:cNvSpPr/>
          <p:nvPr/>
        </p:nvSpPr>
        <p:spPr>
          <a:xfrm>
            <a:off x="365760" y="1618488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960120" y="1435608"/>
            <a:ext cx="4572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TMS_2026.xlsx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960120" y="168249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i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Exportar do TMS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960120" y="1883664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Planilha com todos os abastecimentos do período.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Contém: placa, posto, combustível, litros, valor, data e nome do motorista.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365760" y="2468880"/>
            <a:ext cx="841248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4" name="Shape 11"/>
          <p:cNvSpPr/>
          <p:nvPr/>
        </p:nvSpPr>
        <p:spPr>
          <a:xfrm>
            <a:off x="365760" y="2468880"/>
            <a:ext cx="502920" cy="98755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2"/>
          <p:cNvSpPr/>
          <p:nvPr/>
        </p:nvSpPr>
        <p:spPr>
          <a:xfrm>
            <a:off x="365760" y="2715768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960120" y="2532888"/>
            <a:ext cx="4572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Razão_2026.xlsx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960120" y="277977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i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Exportar do SAP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960120" y="2980944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Razão contábil com todos os pagamentos de combustível lançados no SAP.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Contém: data de lançamento, nome do posto (como está no SAP), valor debitado.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365760" y="3566160"/>
            <a:ext cx="841248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0" name="Shape 17"/>
          <p:cNvSpPr/>
          <p:nvPr/>
        </p:nvSpPr>
        <p:spPr>
          <a:xfrm>
            <a:off x="365760" y="3566160"/>
            <a:ext cx="502920" cy="987552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Text 18"/>
          <p:cNvSpPr/>
          <p:nvPr/>
        </p:nvSpPr>
        <p:spPr>
          <a:xfrm>
            <a:off x="365760" y="3813048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22" name="Text 19"/>
          <p:cNvSpPr/>
          <p:nvPr/>
        </p:nvSpPr>
        <p:spPr>
          <a:xfrm>
            <a:off x="960120" y="3630168"/>
            <a:ext cx="4572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NOMENCLATURA DOS POSTOS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960120" y="387705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i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Aba do Relatório Combustível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960120" y="4078224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Tabela de/para dos nomes dos postos. Lado esquerdo: nome como aparece no SAP. Lado direito: como aparece no TMS.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Extração TMS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chemeClr val="tx1"/>
          </a:solidFill>
          <a:ln w="12700">
            <a:solidFill>
              <a:srgbClr val="0D0D0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475488"/>
            <a:ext cx="9144000" cy="36576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5"/>
          <p:cNvSpPr/>
          <p:nvPr/>
        </p:nvSpPr>
        <p:spPr>
          <a:xfrm>
            <a:off x="365760" y="512064"/>
            <a:ext cx="8412480" cy="1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050" b="1" dirty="0">
                <a:solidFill>
                  <a:srgbClr val="1A2E4A"/>
                </a:solidFill>
                <a:latin typeface="Calibri" pitchFamily="34" charset="0"/>
              </a:rPr>
              <a:t>Como extrair do TMS — passo a passo</a:t>
            </a:r>
          </a:p>
        </p:txBody>
      </p:sp>
      <p:sp>
        <p:nvSpPr>
          <p:cNvPr id="10" name="Shape 10"/>
          <p:cNvSpPr/>
          <p:nvPr/>
        </p:nvSpPr>
        <p:spPr>
          <a:xfrm>
            <a:off x="365760" y="730000"/>
            <a:ext cx="8412480" cy="87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Shape 11"/>
          <p:cNvSpPr/>
          <p:nvPr/>
        </p:nvSpPr>
        <p:spPr>
          <a:xfrm>
            <a:off x="365760" y="730000"/>
            <a:ext cx="550000" cy="870000"/>
          </a:xfrm>
          <a:prstGeom prst="rect">
            <a:avLst/>
          </a:prstGeom>
          <a:solidFill>
            <a:srgbClr val="1A2E4A"/>
          </a:solidFill>
        </p:spPr>
        <p:txBody>
          <a:bodyPr/>
          <a:lstStyle/>
          <a:p>
            <a:endParaRPr lang="pt-BR"/>
          </a:p>
        </p:txBody>
      </p:sp>
      <p:sp>
        <p:nvSpPr>
          <p:cNvPr id="12" name="Sn12"/>
          <p:cNvSpPr/>
          <p:nvPr/>
        </p:nvSpPr>
        <p:spPr>
          <a:xfrm>
            <a:off x="365760" y="730000"/>
            <a:ext cx="550000" cy="8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2000" b="1" dirty="0">
                <a:solidFill>
                  <a:srgbClr val="FFFFFF"/>
                </a:solidFill>
                <a:latin typeface="Calibri" pitchFamily="34" charset="0"/>
              </a:rPr>
              <a:t>1</a:t>
            </a:r>
          </a:p>
        </p:txBody>
      </p:sp>
      <p:sp>
        <p:nvSpPr>
          <p:cNvPr id="13" name="Th13"/>
          <p:cNvSpPr/>
          <p:nvPr/>
        </p:nvSpPr>
        <p:spPr>
          <a:xfrm>
            <a:off x="1000000" y="785000"/>
            <a:ext cx="7700000" cy="2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000" b="1" dirty="0">
                <a:solidFill>
                  <a:srgbClr val="1A2E4A"/>
                </a:solidFill>
                <a:latin typeface="Calibri" pitchFamily="34" charset="0"/>
              </a:rPr>
              <a:t>Login no TMS</a:t>
            </a:r>
          </a:p>
        </p:txBody>
      </p:sp>
      <p:sp>
        <p:nvSpPr>
          <p:cNvPr id="14" name="Tb14"/>
          <p:cNvSpPr/>
          <p:nvPr/>
        </p:nvSpPr>
        <p:spPr>
          <a:xfrm>
            <a:off x="1000000" y="1030000"/>
            <a:ext cx="7700000" cy="5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pt-BR" sz="900" dirty="0">
                <a:solidFill>
                  <a:srgbClr val="1E1E1E"/>
                </a:solidFill>
                <a:latin typeface="Calibri" pitchFamily="34" charset="0"/>
              </a:rPr>
              <a:t>Acesse o TMS com suas credenciais e selecione o Estabelecimento 5.</a:t>
            </a:r>
          </a:p>
        </p:txBody>
      </p:sp>
      <p:sp>
        <p:nvSpPr>
          <p:cNvPr id="15" name="Shape 15"/>
          <p:cNvSpPr/>
          <p:nvPr/>
        </p:nvSpPr>
        <p:spPr>
          <a:xfrm>
            <a:off x="365760" y="1660000"/>
            <a:ext cx="8412480" cy="87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Shape 16"/>
          <p:cNvSpPr/>
          <p:nvPr/>
        </p:nvSpPr>
        <p:spPr>
          <a:xfrm>
            <a:off x="365760" y="1660000"/>
            <a:ext cx="550000" cy="870000"/>
          </a:xfrm>
          <a:prstGeom prst="rect">
            <a:avLst/>
          </a:prstGeom>
          <a:solidFill>
            <a:srgbClr val="1A2E4A"/>
          </a:solidFill>
        </p:spPr>
        <p:txBody>
          <a:bodyPr/>
          <a:lstStyle/>
          <a:p>
            <a:endParaRPr lang="pt-BR"/>
          </a:p>
        </p:txBody>
      </p:sp>
      <p:sp>
        <p:nvSpPr>
          <p:cNvPr id="17" name="Sn17"/>
          <p:cNvSpPr/>
          <p:nvPr/>
        </p:nvSpPr>
        <p:spPr>
          <a:xfrm>
            <a:off x="365760" y="1660000"/>
            <a:ext cx="550000" cy="8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2000" b="1" dirty="0">
                <a:solidFill>
                  <a:srgbClr val="FFFFFF"/>
                </a:solidFill>
                <a:latin typeface="Calibri" pitchFamily="34" charset="0"/>
              </a:rPr>
              <a:t>2</a:t>
            </a:r>
          </a:p>
        </p:txBody>
      </p:sp>
      <p:sp>
        <p:nvSpPr>
          <p:cNvPr id="18" name="Th18"/>
          <p:cNvSpPr/>
          <p:nvPr/>
        </p:nvSpPr>
        <p:spPr>
          <a:xfrm>
            <a:off x="1000000" y="1715000"/>
            <a:ext cx="7700000" cy="2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000" b="1" dirty="0">
                <a:solidFill>
                  <a:srgbClr val="1A2E4A"/>
                </a:solidFill>
                <a:latin typeface="Calibri" pitchFamily="34" charset="0"/>
              </a:rPr>
              <a:t>Navegar até Lançamentos de Combustível</a:t>
            </a:r>
          </a:p>
        </p:txBody>
      </p:sp>
      <p:sp>
        <p:nvSpPr>
          <p:cNvPr id="19" name="Tb19"/>
          <p:cNvSpPr/>
          <p:nvPr/>
        </p:nvSpPr>
        <p:spPr>
          <a:xfrm>
            <a:off x="1000000" y="1960000"/>
            <a:ext cx="7700000" cy="5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pt-BR" sz="900" dirty="0">
                <a:solidFill>
                  <a:srgbClr val="1E1E1E"/>
                </a:solidFill>
                <a:latin typeface="Calibri" pitchFamily="34" charset="0"/>
              </a:rPr>
              <a:t>No menu lateral esquerdo: Frotas/Ativos → Combustíveis → Lançamentos.</a:t>
            </a:r>
          </a:p>
        </p:txBody>
      </p:sp>
      <p:sp>
        <p:nvSpPr>
          <p:cNvPr id="20" name="Shape 20"/>
          <p:cNvSpPr/>
          <p:nvPr/>
        </p:nvSpPr>
        <p:spPr>
          <a:xfrm>
            <a:off x="365760" y="2590000"/>
            <a:ext cx="8412480" cy="87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Shape 21"/>
          <p:cNvSpPr/>
          <p:nvPr/>
        </p:nvSpPr>
        <p:spPr>
          <a:xfrm>
            <a:off x="365760" y="2590000"/>
            <a:ext cx="550000" cy="870000"/>
          </a:xfrm>
          <a:prstGeom prst="rect">
            <a:avLst/>
          </a:prstGeom>
          <a:solidFill>
            <a:srgbClr val="1A2E4A"/>
          </a:solidFill>
        </p:spPr>
        <p:txBody>
          <a:bodyPr/>
          <a:lstStyle/>
          <a:p>
            <a:endParaRPr lang="pt-BR"/>
          </a:p>
        </p:txBody>
      </p:sp>
      <p:sp>
        <p:nvSpPr>
          <p:cNvPr id="22" name="Sn22"/>
          <p:cNvSpPr/>
          <p:nvPr/>
        </p:nvSpPr>
        <p:spPr>
          <a:xfrm>
            <a:off x="365760" y="2590000"/>
            <a:ext cx="550000" cy="8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2000" b="1" dirty="0">
                <a:solidFill>
                  <a:srgbClr val="FFFFFF"/>
                </a:solidFill>
                <a:latin typeface="Calibri" pitchFamily="34" charset="0"/>
              </a:rPr>
              <a:t>3</a:t>
            </a:r>
          </a:p>
        </p:txBody>
      </p:sp>
      <p:sp>
        <p:nvSpPr>
          <p:cNvPr id="23" name="Th23"/>
          <p:cNvSpPr/>
          <p:nvPr/>
        </p:nvSpPr>
        <p:spPr>
          <a:xfrm>
            <a:off x="1000000" y="2645000"/>
            <a:ext cx="7700000" cy="2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000" b="1" dirty="0">
                <a:solidFill>
                  <a:srgbClr val="1A2E4A"/>
                </a:solidFill>
                <a:latin typeface="Calibri" pitchFamily="34" charset="0"/>
              </a:rPr>
              <a:t>Filtrar o período</a:t>
            </a:r>
          </a:p>
        </p:txBody>
      </p:sp>
      <p:sp>
        <p:nvSpPr>
          <p:cNvPr id="24" name="Tb24"/>
          <p:cNvSpPr/>
          <p:nvPr/>
        </p:nvSpPr>
        <p:spPr>
          <a:xfrm>
            <a:off x="1000000" y="2890000"/>
            <a:ext cx="7700000" cy="5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pt-BR" sz="900" dirty="0">
                <a:solidFill>
                  <a:srgbClr val="1E1E1E"/>
                </a:solidFill>
                <a:latin typeface="Calibri" pitchFamily="34" charset="0"/>
              </a:rPr>
              <a:t>Ajuste a data de início e fim desejada e clique em Atualizar para carregar os lançamentos.</a:t>
            </a:r>
          </a:p>
        </p:txBody>
      </p:sp>
      <p:sp>
        <p:nvSpPr>
          <p:cNvPr id="25" name="Shape 25"/>
          <p:cNvSpPr/>
          <p:nvPr/>
        </p:nvSpPr>
        <p:spPr>
          <a:xfrm>
            <a:off x="365760" y="3520000"/>
            <a:ext cx="8412480" cy="105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Shape 26"/>
          <p:cNvSpPr/>
          <p:nvPr/>
        </p:nvSpPr>
        <p:spPr>
          <a:xfrm>
            <a:off x="365760" y="3520000"/>
            <a:ext cx="550000" cy="1050000"/>
          </a:xfrm>
          <a:prstGeom prst="rect">
            <a:avLst/>
          </a:prstGeom>
          <a:solidFill>
            <a:srgbClr val="E8A020"/>
          </a:solidFill>
        </p:spPr>
        <p:txBody>
          <a:bodyPr/>
          <a:lstStyle/>
          <a:p>
            <a:endParaRPr lang="pt-BR"/>
          </a:p>
        </p:txBody>
      </p:sp>
      <p:sp>
        <p:nvSpPr>
          <p:cNvPr id="27" name="Sn27"/>
          <p:cNvSpPr/>
          <p:nvPr/>
        </p:nvSpPr>
        <p:spPr>
          <a:xfrm>
            <a:off x="365760" y="3520000"/>
            <a:ext cx="550000" cy="10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2000" b="1" dirty="0">
                <a:solidFill>
                  <a:srgbClr val="FFFFFF"/>
                </a:solidFill>
                <a:latin typeface="Calibri" pitchFamily="34" charset="0"/>
              </a:rPr>
              <a:t>4</a:t>
            </a:r>
          </a:p>
        </p:txBody>
      </p:sp>
      <p:sp>
        <p:nvSpPr>
          <p:cNvPr id="28" name="Th28"/>
          <p:cNvSpPr/>
          <p:nvPr/>
        </p:nvSpPr>
        <p:spPr>
          <a:xfrm>
            <a:off x="1000000" y="3575000"/>
            <a:ext cx="7700000" cy="2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000" b="1" dirty="0">
                <a:solidFill>
                  <a:srgbClr val="E8A020"/>
                </a:solidFill>
                <a:latin typeface="Calibri" pitchFamily="34" charset="0"/>
              </a:rPr>
              <a:t>Gerar e renomear o arquivo</a:t>
            </a:r>
          </a:p>
        </p:txBody>
      </p:sp>
      <p:sp>
        <p:nvSpPr>
          <p:cNvPr id="29" name="Tb29"/>
          <p:cNvSpPr/>
          <p:nvPr/>
        </p:nvSpPr>
        <p:spPr>
          <a:xfrm>
            <a:off x="1000000" y="3820000"/>
            <a:ext cx="7700000" cy="73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pt-BR" sz="900" dirty="0">
                <a:solidFill>
                  <a:srgbClr val="1E1E1E"/>
                </a:solidFill>
                <a:latin typeface="Calibri" pitchFamily="34" charset="0"/>
              </a:rPr>
              <a:t>Clique no ícone de planilha e selecione Gerar Excel. O arquivo será baixado com o nome ExportWWCombustivelLancamento — renomeie para TMS.</a:t>
            </a:r>
          </a:p>
          <a:p>
            <a:pPr marL="0" indent="0" algn="l">
              <a:buNone/>
            </a:pPr>
            <a:r>
              <a:rPr lang="pt-BR" sz="800" i="1" dirty="0">
                <a:solidFill>
                  <a:srgbClr val="5A6475"/>
                </a:solidFill>
                <a:latin typeface="Calibri" pitchFamily="34" charset="0"/>
              </a:rPr>
              <a:t>⚠️  Atenção: os dados começam na linha 4 (as primeiras linhas têm cabeçalho de filtro). Remova registros com Estornado = true antes de iniciar a conciliação.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Extração SAP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chemeClr val="tx1"/>
          </a:solidFill>
          <a:ln w="12700">
            <a:solidFill>
              <a:srgbClr val="0D0D0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475488"/>
            <a:ext cx="9144000" cy="36576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5"/>
          <p:cNvSpPr/>
          <p:nvPr/>
        </p:nvSpPr>
        <p:spPr>
          <a:xfrm>
            <a:off x="365760" y="512064"/>
            <a:ext cx="8412480" cy="1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050" b="1" dirty="0">
                <a:solidFill>
                  <a:srgbClr val="1A2E4A"/>
                </a:solidFill>
                <a:latin typeface="Calibri" pitchFamily="34" charset="0"/>
              </a:rPr>
              <a:t>Como extrair a Razão do SAP — passo a passo</a:t>
            </a:r>
          </a:p>
        </p:txBody>
      </p:sp>
      <p:sp>
        <p:nvSpPr>
          <p:cNvPr id="10" name="Shape 10"/>
          <p:cNvSpPr/>
          <p:nvPr/>
        </p:nvSpPr>
        <p:spPr>
          <a:xfrm>
            <a:off x="365760" y="730000"/>
            <a:ext cx="8412480" cy="87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Shape 11"/>
          <p:cNvSpPr/>
          <p:nvPr/>
        </p:nvSpPr>
        <p:spPr>
          <a:xfrm>
            <a:off x="365760" y="730000"/>
            <a:ext cx="550000" cy="870000"/>
          </a:xfrm>
          <a:prstGeom prst="rect">
            <a:avLst/>
          </a:prstGeom>
          <a:solidFill>
            <a:srgbClr val="1A2E4A"/>
          </a:solidFill>
        </p:spPr>
        <p:txBody>
          <a:bodyPr/>
          <a:lstStyle/>
          <a:p>
            <a:endParaRPr lang="pt-BR"/>
          </a:p>
        </p:txBody>
      </p:sp>
      <p:sp>
        <p:nvSpPr>
          <p:cNvPr id="12" name="Sn12"/>
          <p:cNvSpPr/>
          <p:nvPr/>
        </p:nvSpPr>
        <p:spPr>
          <a:xfrm>
            <a:off x="365760" y="730000"/>
            <a:ext cx="550000" cy="8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2000" b="1" dirty="0">
                <a:solidFill>
                  <a:srgbClr val="FFFFFF"/>
                </a:solidFill>
                <a:latin typeface="Calibri" pitchFamily="34" charset="0"/>
              </a:rPr>
              <a:t>1</a:t>
            </a:r>
          </a:p>
        </p:txBody>
      </p:sp>
      <p:sp>
        <p:nvSpPr>
          <p:cNvPr id="13" name="Th13"/>
          <p:cNvSpPr/>
          <p:nvPr/>
        </p:nvSpPr>
        <p:spPr>
          <a:xfrm>
            <a:off x="1000000" y="785000"/>
            <a:ext cx="7700000" cy="2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000" b="1" dirty="0">
                <a:solidFill>
                  <a:srgbClr val="1A2E4A"/>
                </a:solidFill>
                <a:latin typeface="Calibri" pitchFamily="34" charset="0"/>
              </a:rPr>
              <a:t>Login no SAP</a:t>
            </a:r>
          </a:p>
        </p:txBody>
      </p:sp>
      <p:sp>
        <p:nvSpPr>
          <p:cNvPr id="14" name="Tb14"/>
          <p:cNvSpPr/>
          <p:nvPr/>
        </p:nvSpPr>
        <p:spPr>
          <a:xfrm>
            <a:off x="1000000" y="1030000"/>
            <a:ext cx="7700000" cy="5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pt-BR" sz="900" dirty="0">
                <a:solidFill>
                  <a:srgbClr val="1E1E1E"/>
                </a:solidFill>
                <a:latin typeface="Calibri" pitchFamily="34" charset="0"/>
              </a:rPr>
              <a:t>Acesse o SAP com suas credenciais e ir na aba módulos superior esquerdo: Relatórios → Finanças → Contabilidade → Razão</a:t>
            </a:r>
          </a:p>
          <a:p>
            <a:pPr marL="0" indent="0" algn="l">
              <a:buNone/>
            </a:pPr>
            <a:endParaRPr lang="pt-BR" sz="900" dirty="0">
              <a:solidFill>
                <a:srgbClr val="1E1E1E"/>
              </a:solidFill>
              <a:latin typeface="Calibri" pitchFamily="34" charset="0"/>
            </a:endParaRPr>
          </a:p>
        </p:txBody>
      </p:sp>
      <p:sp>
        <p:nvSpPr>
          <p:cNvPr id="15" name="Shape 15"/>
          <p:cNvSpPr/>
          <p:nvPr/>
        </p:nvSpPr>
        <p:spPr>
          <a:xfrm>
            <a:off x="365760" y="1660000"/>
            <a:ext cx="8412480" cy="87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Shape 16"/>
          <p:cNvSpPr/>
          <p:nvPr/>
        </p:nvSpPr>
        <p:spPr>
          <a:xfrm>
            <a:off x="365760" y="1660000"/>
            <a:ext cx="550000" cy="870000"/>
          </a:xfrm>
          <a:prstGeom prst="rect">
            <a:avLst/>
          </a:prstGeom>
          <a:solidFill>
            <a:srgbClr val="1A2E4A"/>
          </a:solidFill>
        </p:spPr>
        <p:txBody>
          <a:bodyPr/>
          <a:lstStyle/>
          <a:p>
            <a:endParaRPr lang="pt-BR"/>
          </a:p>
        </p:txBody>
      </p:sp>
      <p:sp>
        <p:nvSpPr>
          <p:cNvPr id="17" name="Sn17"/>
          <p:cNvSpPr/>
          <p:nvPr/>
        </p:nvSpPr>
        <p:spPr>
          <a:xfrm>
            <a:off x="365760" y="1660000"/>
            <a:ext cx="550000" cy="8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2000" b="1" dirty="0">
                <a:solidFill>
                  <a:srgbClr val="FFFFFF"/>
                </a:solidFill>
                <a:latin typeface="Calibri" pitchFamily="34" charset="0"/>
              </a:rPr>
              <a:t>2</a:t>
            </a:r>
          </a:p>
        </p:txBody>
      </p:sp>
      <p:sp>
        <p:nvSpPr>
          <p:cNvPr id="18" name="Th18"/>
          <p:cNvSpPr/>
          <p:nvPr/>
        </p:nvSpPr>
        <p:spPr>
          <a:xfrm>
            <a:off x="1000000" y="1715000"/>
            <a:ext cx="7700000" cy="2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000" b="1" dirty="0">
                <a:solidFill>
                  <a:srgbClr val="1A2E4A"/>
                </a:solidFill>
                <a:latin typeface="Calibri" pitchFamily="34" charset="0"/>
              </a:rPr>
              <a:t>Configurar os filtros</a:t>
            </a:r>
          </a:p>
        </p:txBody>
      </p:sp>
      <p:sp>
        <p:nvSpPr>
          <p:cNvPr id="19" name="Tb19"/>
          <p:cNvSpPr/>
          <p:nvPr/>
        </p:nvSpPr>
        <p:spPr>
          <a:xfrm>
            <a:off x="1000000" y="1960000"/>
            <a:ext cx="7700000" cy="5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pt-BR" sz="900" dirty="0">
                <a:solidFill>
                  <a:srgbClr val="1E1E1E"/>
                </a:solidFill>
                <a:latin typeface="Calibri" pitchFamily="34" charset="0"/>
              </a:rPr>
              <a:t>Tirar o flag de Parceiros de Negócios. Ao lado de Procurar, colocar na Sessão 8. Marcar as contas: 05.1.1110101 – COMBUSTÍVEIS – VEÍCULOS e 05.1.1110104 – LUBRIF. ARLA.</a:t>
            </a:r>
          </a:p>
        </p:txBody>
      </p:sp>
      <p:sp>
        <p:nvSpPr>
          <p:cNvPr id="20" name="Shape 20"/>
          <p:cNvSpPr/>
          <p:nvPr/>
        </p:nvSpPr>
        <p:spPr>
          <a:xfrm>
            <a:off x="365760" y="2590000"/>
            <a:ext cx="8412480" cy="87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Shape 21"/>
          <p:cNvSpPr/>
          <p:nvPr/>
        </p:nvSpPr>
        <p:spPr>
          <a:xfrm>
            <a:off x="365760" y="2590000"/>
            <a:ext cx="550000" cy="870000"/>
          </a:xfrm>
          <a:prstGeom prst="rect">
            <a:avLst/>
          </a:prstGeom>
          <a:solidFill>
            <a:srgbClr val="1A2E4A"/>
          </a:solidFill>
        </p:spPr>
        <p:txBody>
          <a:bodyPr/>
          <a:lstStyle/>
          <a:p>
            <a:endParaRPr lang="pt-BR"/>
          </a:p>
        </p:txBody>
      </p:sp>
      <p:sp>
        <p:nvSpPr>
          <p:cNvPr id="22" name="Sn22"/>
          <p:cNvSpPr/>
          <p:nvPr/>
        </p:nvSpPr>
        <p:spPr>
          <a:xfrm>
            <a:off x="365760" y="2590000"/>
            <a:ext cx="550000" cy="8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2000" b="1" dirty="0">
                <a:solidFill>
                  <a:srgbClr val="FFFFFF"/>
                </a:solidFill>
                <a:latin typeface="Calibri" pitchFamily="34" charset="0"/>
              </a:rPr>
              <a:t>3</a:t>
            </a:r>
          </a:p>
        </p:txBody>
      </p:sp>
      <p:sp>
        <p:nvSpPr>
          <p:cNvPr id="23" name="Th23"/>
          <p:cNvSpPr/>
          <p:nvPr/>
        </p:nvSpPr>
        <p:spPr>
          <a:xfrm>
            <a:off x="1000000" y="2645000"/>
            <a:ext cx="7700000" cy="2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000" b="1" dirty="0">
                <a:solidFill>
                  <a:srgbClr val="1A2E4A"/>
                </a:solidFill>
                <a:latin typeface="Calibri" pitchFamily="34" charset="0"/>
              </a:rPr>
              <a:t>Definir o período e confirmar</a:t>
            </a:r>
          </a:p>
        </p:txBody>
      </p:sp>
      <p:sp>
        <p:nvSpPr>
          <p:cNvPr id="24" name="Tb24"/>
          <p:cNvSpPr/>
          <p:nvPr/>
        </p:nvSpPr>
        <p:spPr>
          <a:xfrm>
            <a:off x="1000000" y="2890000"/>
            <a:ext cx="7700000" cy="5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pt-BR" sz="900" dirty="0">
                <a:solidFill>
                  <a:srgbClr val="1E1E1E"/>
                </a:solidFill>
                <a:latin typeface="Calibri" pitchFamily="34" charset="0"/>
              </a:rPr>
              <a:t>Ajuste a data de lançamento de início e fim desejada. Clique em OK para carregar os dados.</a:t>
            </a:r>
          </a:p>
        </p:txBody>
      </p:sp>
      <p:sp>
        <p:nvSpPr>
          <p:cNvPr id="25" name="Shape 25"/>
          <p:cNvSpPr/>
          <p:nvPr/>
        </p:nvSpPr>
        <p:spPr>
          <a:xfrm>
            <a:off x="365760" y="3520000"/>
            <a:ext cx="8412480" cy="105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Shape 26"/>
          <p:cNvSpPr/>
          <p:nvPr/>
        </p:nvSpPr>
        <p:spPr>
          <a:xfrm>
            <a:off x="365760" y="3520000"/>
            <a:ext cx="550000" cy="1050000"/>
          </a:xfrm>
          <a:prstGeom prst="rect">
            <a:avLst/>
          </a:prstGeom>
          <a:solidFill>
            <a:srgbClr val="E8A020"/>
          </a:solidFill>
        </p:spPr>
        <p:txBody>
          <a:bodyPr/>
          <a:lstStyle/>
          <a:p>
            <a:endParaRPr lang="pt-BR"/>
          </a:p>
        </p:txBody>
      </p:sp>
      <p:sp>
        <p:nvSpPr>
          <p:cNvPr id="27" name="Sn27"/>
          <p:cNvSpPr/>
          <p:nvPr/>
        </p:nvSpPr>
        <p:spPr>
          <a:xfrm>
            <a:off x="365760" y="3520000"/>
            <a:ext cx="550000" cy="10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2000" b="1" dirty="0">
                <a:solidFill>
                  <a:srgbClr val="FFFFFF"/>
                </a:solidFill>
                <a:latin typeface="Calibri" pitchFamily="34" charset="0"/>
              </a:rPr>
              <a:t>4</a:t>
            </a:r>
          </a:p>
        </p:txBody>
      </p:sp>
      <p:sp>
        <p:nvSpPr>
          <p:cNvPr id="28" name="Th28"/>
          <p:cNvSpPr/>
          <p:nvPr/>
        </p:nvSpPr>
        <p:spPr>
          <a:xfrm>
            <a:off x="1000000" y="3575000"/>
            <a:ext cx="7700000" cy="2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000" b="1" dirty="0">
                <a:solidFill>
                  <a:srgbClr val="E8A020"/>
                </a:solidFill>
                <a:latin typeface="Calibri" pitchFamily="34" charset="0"/>
              </a:rPr>
              <a:t>Exportar para Excel</a:t>
            </a:r>
          </a:p>
        </p:txBody>
      </p:sp>
      <p:sp>
        <p:nvSpPr>
          <p:cNvPr id="29" name="Tb29"/>
          <p:cNvSpPr/>
          <p:nvPr/>
        </p:nvSpPr>
        <p:spPr>
          <a:xfrm>
            <a:off x="1000000" y="3820000"/>
            <a:ext cx="7700000" cy="73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pt-BR" sz="900" dirty="0">
                <a:solidFill>
                  <a:srgbClr val="1E1E1E"/>
                </a:solidFill>
                <a:latin typeface="Calibri" pitchFamily="34" charset="0"/>
              </a:rPr>
              <a:t>Na barra de descrições da tabela: clique com o botão direito → Copiar Tabela. Abra uma planilha limpa no Excel, cole os dados e renomeie a aba como Razão.</a:t>
            </a:r>
          </a:p>
          <a:p>
            <a:pPr marL="0" indent="0" algn="l">
              <a:buNone/>
            </a:pPr>
            <a:r>
              <a:rPr lang="pt-BR" sz="800" i="1" dirty="0">
                <a:solidFill>
                  <a:srgbClr val="5A6475"/>
                </a:solidFill>
                <a:latin typeface="Calibri" pitchFamily="34" charset="0"/>
              </a:rPr>
              <a:t>⚠️  OBS: use somente a coluna Débito como valor na conciliação — a coluna Crédito corresponde a reembolsos de lançamentos e não deve ser considerada.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chemeClr val="tx1"/>
          </a:solidFill>
          <a:ln w="12700">
            <a:solidFill>
              <a:srgbClr val="0D0D0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475488"/>
            <a:ext cx="9144000" cy="36576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2"/>
          <p:cNvSpPr/>
          <p:nvPr/>
        </p:nvSpPr>
        <p:spPr>
          <a:xfrm>
            <a:off x="2103120" y="557784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Planilha 1 — TMS: como ela chega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365760" y="100584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 exportar do TMS, a planilha vem assim. As colunas em laranja são as que usamos na conciliação:</a:t>
            </a:r>
            <a:endParaRPr lang="en-US" sz="1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2053678"/>
              </p:ext>
            </p:extLst>
          </p:nvPr>
        </p:nvGraphicFramePr>
        <p:xfrm>
          <a:off x="365760" y="1371600"/>
          <a:ext cx="8412480" cy="1554480"/>
        </p:xfrm>
        <a:graphic>
          <a:graphicData uri="http://schemas.openxmlformats.org/drawingml/2006/table">
            <a:tbl>
              <a:tblPr/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e hora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A0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Placa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A0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Tipo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Combustível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A0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Litros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A0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Valor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A0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Posto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A0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Nome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11/03/2026 06:09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AZK-****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Externo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Gasolina comum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31,53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R$ 212,51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Posto Gp Brasil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Odry ****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11/03/2026 07:22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RHL-****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Externo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Diesel S10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80,13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R$ 548,09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Posto Gp Brasil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Valmir ****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10/03/2026 10:45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BCG-****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Externo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Diesel S10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320,00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R$ 1.843,20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 Posto o Cupim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 err="1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Olecir</a:t>
                      </a:r>
                      <a:r>
                        <a:rPr lang="en-US" sz="8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****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10/03/2026 14:30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BDR-****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Externo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Diesel S10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461,75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R$ 2.604,27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 Posto o Cupim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Luiz ****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365760" y="3154680"/>
            <a:ext cx="164592" cy="164592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5"/>
          <p:cNvSpPr/>
          <p:nvPr/>
        </p:nvSpPr>
        <p:spPr>
          <a:xfrm>
            <a:off x="566928" y="3145536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Colunas usadas na conciliação</a:t>
            </a:r>
            <a:endParaRPr lang="en-US" sz="850" dirty="0"/>
          </a:p>
        </p:txBody>
      </p:sp>
      <p:sp>
        <p:nvSpPr>
          <p:cNvPr id="10" name="Shape 6"/>
          <p:cNvSpPr/>
          <p:nvPr/>
        </p:nvSpPr>
        <p:spPr>
          <a:xfrm>
            <a:off x="365760" y="3401568"/>
            <a:ext cx="8412480" cy="1389888"/>
          </a:xfrm>
          <a:prstGeom prst="rect">
            <a:avLst/>
          </a:prstGeom>
          <a:solidFill>
            <a:srgbClr val="EBF4FB"/>
          </a:solidFill>
          <a:ln w="1270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Shape 7"/>
          <p:cNvSpPr/>
          <p:nvPr/>
        </p:nvSpPr>
        <p:spPr>
          <a:xfrm>
            <a:off x="365760" y="3401568"/>
            <a:ext cx="54864" cy="1389888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8"/>
          <p:cNvSpPr/>
          <p:nvPr/>
        </p:nvSpPr>
        <p:spPr>
          <a:xfrm>
            <a:off x="502920" y="3447288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Atenção ao exportar do TMS:</a:t>
            </a:r>
            <a:endParaRPr lang="en-US" sz="950" dirty="0"/>
          </a:p>
        </p:txBody>
      </p:sp>
      <p:sp>
        <p:nvSpPr>
          <p:cNvPr id="13" name="Text 9"/>
          <p:cNvSpPr/>
          <p:nvPr/>
        </p:nvSpPr>
        <p:spPr>
          <a:xfrm>
            <a:off x="502920" y="3739896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9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primeiras linhas têm cabeçalho de filtro (Data, Propriedade). Os dados começam na linha 4.
</a:t>
            </a:r>
            <a:r>
              <a:rPr lang="en-US" sz="9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9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Coluna Estornado = 'true' → lançamento estornado, não deve ser conciliado.
</a:t>
            </a:r>
            <a:r>
              <a:rPr lang="en-US" sz="9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9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nome do posto no TMS costuma ser abreviado ou informal.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chemeClr val="tx1"/>
          </a:solidFill>
          <a:ln w="12700">
            <a:solidFill>
              <a:srgbClr val="0D0D0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475488"/>
            <a:ext cx="9144000" cy="36576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2"/>
          <p:cNvSpPr/>
          <p:nvPr/>
        </p:nvSpPr>
        <p:spPr>
          <a:xfrm>
            <a:off x="2103120" y="557784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Filtros obrigatórios antes de começar — planilha TMS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365760" y="1005840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 exportar o TMS, algumas placas devem ser excluídas antes de iniciar a conciliação. São duas operações independentes que não entram nessa planilha: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365760" y="1463040"/>
            <a:ext cx="4069080" cy="3063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8" name="Shape 5"/>
          <p:cNvSpPr/>
          <p:nvPr/>
        </p:nvSpPr>
        <p:spPr>
          <a:xfrm>
            <a:off x="365760" y="1463040"/>
            <a:ext cx="4069080" cy="329184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6"/>
          <p:cNvSpPr/>
          <p:nvPr/>
        </p:nvSpPr>
        <p:spPr>
          <a:xfrm>
            <a:off x="457200" y="1490472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Geradores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57200" y="1874520"/>
            <a:ext cx="3886200" cy="594360"/>
          </a:xfrm>
          <a:prstGeom prst="rect">
            <a:avLst/>
          </a:prstGeom>
          <a:solidFill>
            <a:srgbClr val="EBF4FB"/>
          </a:solidFill>
          <a:ln w="1270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8"/>
          <p:cNvSpPr/>
          <p:nvPr/>
        </p:nvSpPr>
        <p:spPr>
          <a:xfrm>
            <a:off x="548640" y="1901952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excluir?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548640" y="208483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São geradores de energia — têm centro de custo próprio e a conciliação é feita separado.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457200" y="2578608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Placas a filtrar e excluir: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457200" y="2852928"/>
            <a:ext cx="1150000" cy="347472"/>
          </a:xfrm>
          <a:prstGeom prst="rect">
            <a:avLst/>
          </a:prstGeom>
          <a:solidFill>
            <a:srgbClr val="FFF5E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2"/>
          <p:cNvSpPr/>
          <p:nvPr/>
        </p:nvSpPr>
        <p:spPr>
          <a:xfrm>
            <a:off x="457200" y="2880360"/>
            <a:ext cx="115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GER-0001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1717200" y="2852928"/>
            <a:ext cx="1150000" cy="347472"/>
          </a:xfrm>
          <a:prstGeom prst="rect">
            <a:avLst/>
          </a:prstGeom>
          <a:solidFill>
            <a:srgbClr val="FFF5E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4"/>
          <p:cNvSpPr/>
          <p:nvPr/>
        </p:nvSpPr>
        <p:spPr>
          <a:xfrm>
            <a:off x="1717200" y="2880360"/>
            <a:ext cx="115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GER-0002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2977200" y="2852928"/>
            <a:ext cx="1150000" cy="347472"/>
          </a:xfrm>
          <a:prstGeom prst="rect">
            <a:avLst/>
          </a:prstGeom>
          <a:solidFill>
            <a:srgbClr val="FFF5E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Text 16"/>
          <p:cNvSpPr/>
          <p:nvPr/>
        </p:nvSpPr>
        <p:spPr>
          <a:xfrm>
            <a:off x="2977200" y="2880360"/>
            <a:ext cx="115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GER-0003</a:t>
            </a:r>
            <a:endParaRPr lang="en-US" sz="1100" dirty="0"/>
          </a:p>
        </p:txBody>
      </p:sp>
      <p:sp>
        <p:nvSpPr>
          <p:cNvPr id="39" name="Shape 39"/>
          <p:cNvSpPr/>
          <p:nvPr/>
        </p:nvSpPr>
        <p:spPr>
          <a:xfrm>
            <a:off x="457200" y="3273552"/>
            <a:ext cx="1150000" cy="347472"/>
          </a:xfrm>
          <a:prstGeom prst="rect">
            <a:avLst/>
          </a:prstGeom>
          <a:solidFill>
            <a:srgbClr val="FFF5E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0" name="Text 40"/>
          <p:cNvSpPr/>
          <p:nvPr/>
        </p:nvSpPr>
        <p:spPr>
          <a:xfrm>
            <a:off x="457200" y="3300984"/>
            <a:ext cx="115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RSC-0001</a:t>
            </a:r>
            <a:endParaRPr lang="en-US" sz="1100" dirty="0"/>
          </a:p>
        </p:txBody>
      </p:sp>
      <p:sp>
        <p:nvSpPr>
          <p:cNvPr id="41" name="Shape 41"/>
          <p:cNvSpPr/>
          <p:nvPr/>
        </p:nvSpPr>
        <p:spPr>
          <a:xfrm>
            <a:off x="1717200" y="3273552"/>
            <a:ext cx="1150000" cy="347472"/>
          </a:xfrm>
          <a:prstGeom prst="rect">
            <a:avLst/>
          </a:prstGeom>
          <a:solidFill>
            <a:srgbClr val="FFF5E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2" name="Text 42"/>
          <p:cNvSpPr/>
          <p:nvPr/>
        </p:nvSpPr>
        <p:spPr>
          <a:xfrm>
            <a:off x="1717200" y="3300984"/>
            <a:ext cx="115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RSC-0002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3749040"/>
            <a:ext cx="3886200" cy="594360"/>
          </a:xfrm>
          <a:prstGeom prst="rect">
            <a:avLst/>
          </a:prstGeom>
          <a:solidFill>
            <a:srgbClr val="F4F6F8"/>
          </a:solidFill>
          <a:ln w="1270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Text 18"/>
          <p:cNvSpPr/>
          <p:nvPr/>
        </p:nvSpPr>
        <p:spPr>
          <a:xfrm>
            <a:off x="548640" y="3785616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Obs: o mesmo filtro se aplica no SAP — excluir os</a:t>
            </a:r>
            <a:endParaRPr lang="en-US" sz="800" dirty="0"/>
          </a:p>
          <a:p>
            <a:pPr marL="0" indent="0">
              <a:buNone/>
            </a:pPr>
            <a:r>
              <a:rPr lang="en-US" sz="800" i="1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lançamentos correspondentes a GER e RSC.</a:t>
            </a:r>
            <a:endParaRPr lang="en-US" sz="800" dirty="0"/>
          </a:p>
        </p:txBody>
      </p:sp>
      <p:sp>
        <p:nvSpPr>
          <p:cNvPr id="22" name="Shape 19"/>
          <p:cNvSpPr/>
          <p:nvPr/>
        </p:nvSpPr>
        <p:spPr>
          <a:xfrm>
            <a:off x="4709160" y="1463040"/>
            <a:ext cx="4069080" cy="3063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3" name="Shape 20"/>
          <p:cNvSpPr/>
          <p:nvPr/>
        </p:nvSpPr>
        <p:spPr>
          <a:xfrm>
            <a:off x="4709160" y="1463040"/>
            <a:ext cx="4069080" cy="329184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Text 21"/>
          <p:cNvSpPr/>
          <p:nvPr/>
        </p:nvSpPr>
        <p:spPr>
          <a:xfrm>
            <a:off x="4800600" y="1490472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Operação Tanque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800600" y="1874520"/>
            <a:ext cx="3886200" cy="594360"/>
          </a:xfrm>
          <a:prstGeom prst="rect">
            <a:avLst/>
          </a:prstGeom>
          <a:solidFill>
            <a:srgbClr val="E8F8F5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Text 23"/>
          <p:cNvSpPr/>
          <p:nvPr/>
        </p:nvSpPr>
        <p:spPr>
          <a:xfrm>
            <a:off x="4892040" y="1901952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excluir?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4892040" y="208483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Operação independente — o combustível é conciliado em planilha própria exclusiva da Operação Tanque.</a:t>
            </a:r>
            <a:endParaRPr lang="en-US" sz="850" dirty="0"/>
          </a:p>
        </p:txBody>
      </p:sp>
      <p:sp>
        <p:nvSpPr>
          <p:cNvPr id="28" name="Text 25"/>
          <p:cNvSpPr/>
          <p:nvPr/>
        </p:nvSpPr>
        <p:spPr>
          <a:xfrm>
            <a:off x="4800600" y="2578608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Placas a filtrar e excluir: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4800600" y="2852928"/>
            <a:ext cx="1783080" cy="347472"/>
          </a:xfrm>
          <a:prstGeom prst="rect">
            <a:avLst/>
          </a:prstGeom>
          <a:solidFill>
            <a:srgbClr val="E8F8F5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0" name="Text 27"/>
          <p:cNvSpPr/>
          <p:nvPr/>
        </p:nvSpPr>
        <p:spPr>
          <a:xfrm>
            <a:off x="4800600" y="288036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TAM-****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6675120" y="2852928"/>
            <a:ext cx="1783080" cy="347472"/>
          </a:xfrm>
          <a:prstGeom prst="rect">
            <a:avLst/>
          </a:prstGeom>
          <a:solidFill>
            <a:srgbClr val="E8F8F5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2" name="Text 29"/>
          <p:cNvSpPr/>
          <p:nvPr/>
        </p:nvSpPr>
        <p:spPr>
          <a:xfrm>
            <a:off x="6675120" y="288036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TAZ- ****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5212080" y="3273552"/>
            <a:ext cx="2926080" cy="347472"/>
          </a:xfrm>
          <a:prstGeom prst="rect">
            <a:avLst/>
          </a:prstGeom>
          <a:solidFill>
            <a:srgbClr val="E8F8F5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4" name="Text 31"/>
          <p:cNvSpPr/>
          <p:nvPr/>
        </p:nvSpPr>
        <p:spPr>
          <a:xfrm>
            <a:off x="5212080" y="330098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TBN- ****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4800600" y="3749040"/>
            <a:ext cx="3886200" cy="594360"/>
          </a:xfrm>
          <a:prstGeom prst="rect">
            <a:avLst/>
          </a:prstGeom>
          <a:solidFill>
            <a:srgbClr val="F4F6F8"/>
          </a:solidFill>
          <a:ln w="1270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6" name="Text 33"/>
          <p:cNvSpPr/>
          <p:nvPr/>
        </p:nvSpPr>
        <p:spPr>
          <a:xfrm>
            <a:off x="4892040" y="3785616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Obs: o mesmo filtro se aplica no SAP — excluir os</a:t>
            </a:r>
            <a:endParaRPr lang="en-US" sz="800" dirty="0"/>
          </a:p>
          <a:p>
            <a:pPr marL="0" indent="0">
              <a:buNone/>
            </a:pPr>
            <a:r>
              <a:rPr lang="en-US" sz="800" i="1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lançamentos das placas TAM, TAZ e TBN.</a:t>
            </a:r>
            <a:endParaRPr lang="en-US" sz="800" dirty="0"/>
          </a:p>
        </p:txBody>
      </p:sp>
      <p:sp>
        <p:nvSpPr>
          <p:cNvPr id="37" name="Shape 34"/>
          <p:cNvSpPr/>
          <p:nvPr/>
        </p:nvSpPr>
        <p:spPr>
          <a:xfrm>
            <a:off x="365760" y="4626864"/>
            <a:ext cx="8412480" cy="384048"/>
          </a:xfrm>
          <a:prstGeom prst="rect">
            <a:avLst/>
          </a:prstGeom>
          <a:solidFill>
            <a:srgbClr val="FFF5E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8" name="Text 35"/>
          <p:cNvSpPr/>
          <p:nvPr/>
        </p:nvSpPr>
        <p:spPr>
          <a:xfrm>
            <a:off x="502920" y="4663440"/>
            <a:ext cx="8138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Lembrete: </a:t>
            </a:r>
            <a:r>
              <a:rPr lang="en-US" sz="95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esses filtros valem tanto para o TMS quanto para a Razão SAP — excluir antes de começar a conciliação.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chemeClr val="tx1"/>
          </a:solidFill>
          <a:ln w="12700">
            <a:solidFill>
              <a:srgbClr val="0D0D0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475488"/>
            <a:ext cx="9144000" cy="36576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2"/>
          <p:cNvSpPr/>
          <p:nvPr/>
        </p:nvSpPr>
        <p:spPr>
          <a:xfrm>
            <a:off x="2103120" y="557784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Planilha 2 — SAP (Razão): como ela chega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365760" y="100584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razão do SAP chega assim. Usamos principalmente as colunas destacadas:</a:t>
            </a:r>
            <a:endParaRPr lang="en-US" sz="1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7004289"/>
              </p:ext>
            </p:extLst>
          </p:nvPr>
        </p:nvGraphicFramePr>
        <p:xfrm>
          <a:off x="365760" y="1371600"/>
          <a:ext cx="8412480" cy="1554480"/>
        </p:xfrm>
        <a:graphic>
          <a:graphicData uri="http://schemas.openxmlformats.org/drawingml/2006/table">
            <a:tbl>
              <a:tblPr/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48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lançamento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A0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Nº doc.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737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Observações (NF + Posto)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A0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Nome posto (SAP)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A0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Débito (R$)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A0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Crédito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737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03/01/2026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 184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NF :1285 - Postos Mahle Brasil Comercio de Combusti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Postos Mahle Brasil Comercio de Combusti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331,45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09/01/2026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 187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NF :1290 - Postos Mahle Brasil Comercio de Combusti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Postos Mahle Brasil Comercio de Combusti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266,41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16/01/2026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 190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NF :3722 - AUTO POSTO O CUPIM SAO JOSE LTDA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 POSTO O CUPIM SAO JOSE LTDA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2.166,28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05/01/2026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 185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NF :3722 - AUTO POSTO O CUPIM SAO JOSE LTDA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 POSTO O CUPIM SAO JOSE LTDA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3.717,41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365760" y="3154680"/>
            <a:ext cx="8412480" cy="1664208"/>
          </a:xfrm>
          <a:prstGeom prst="rect">
            <a:avLst/>
          </a:prstGeom>
          <a:solidFill>
            <a:srgbClr val="E8F8F5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Shape 5"/>
          <p:cNvSpPr/>
          <p:nvPr/>
        </p:nvSpPr>
        <p:spPr>
          <a:xfrm>
            <a:off x="365760" y="3154680"/>
            <a:ext cx="54864" cy="166420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6"/>
          <p:cNvSpPr/>
          <p:nvPr/>
        </p:nvSpPr>
        <p:spPr>
          <a:xfrm>
            <a:off x="502920" y="3200400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Pontos de atenção no SAP:</a:t>
            </a:r>
            <a:endParaRPr lang="en-US" sz="950" dirty="0"/>
          </a:p>
        </p:txBody>
      </p:sp>
      <p:sp>
        <p:nvSpPr>
          <p:cNvPr id="11" name="Text 7"/>
          <p:cNvSpPr/>
          <p:nvPr/>
        </p:nvSpPr>
        <p:spPr>
          <a:xfrm>
            <a:off x="502920" y="3493008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9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SAP não tem placa do veículo — por isso o cruzamento não pode ser feito por placa.
</a:t>
            </a:r>
            <a:r>
              <a:rPr lang="en-US" sz="9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9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'Nome conta contrap.' = nome do posto como cadastrado no SAP, geralmente com razão social completa.
</a:t>
            </a:r>
            <a:r>
              <a:rPr lang="en-US" sz="9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9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nota fiscal pode gerar mais de um lançamento (débito + crédito) → usar apenas os débitos.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chemeClr val="tx1"/>
          </a:solidFill>
          <a:ln w="12700">
            <a:solidFill>
              <a:srgbClr val="0D0D0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475488"/>
            <a:ext cx="9144000" cy="36576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2"/>
          <p:cNvSpPr/>
          <p:nvPr/>
        </p:nvSpPr>
        <p:spPr>
          <a:xfrm>
            <a:off x="2103120" y="557784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as datas não batem?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548640" y="1984248"/>
            <a:ext cx="7772400" cy="54864"/>
          </a:xfrm>
          <a:prstGeom prst="rect">
            <a:avLst/>
          </a:prstGeom>
          <a:solidFill>
            <a:srgbClr val="CDD5DF"/>
          </a:solidFill>
          <a:ln w="12700">
            <a:solidFill>
              <a:srgbClr val="CDD5D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Shape 4"/>
          <p:cNvSpPr/>
          <p:nvPr/>
        </p:nvSpPr>
        <p:spPr>
          <a:xfrm>
            <a:off x="475488" y="1856232"/>
            <a:ext cx="256032" cy="256032"/>
          </a:xfrm>
          <a:prstGeom prst="ellipse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91440" y="145389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🚛 Dia 1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91440" y="176479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Motorista abastece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91440" y="2276856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TMS </a:t>
            </a:r>
            <a:r>
              <a:rPr lang="en-US" sz="850" dirty="0" err="1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3218688" y="1856232"/>
            <a:ext cx="256032" cy="256032"/>
          </a:xfrm>
          <a:prstGeom prst="ellipse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9"/>
          <p:cNvSpPr/>
          <p:nvPr/>
        </p:nvSpPr>
        <p:spPr>
          <a:xfrm>
            <a:off x="2834640" y="145389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🧾 Dia 3–7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2834640" y="176479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Posto emite a NF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2834640" y="2276856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Pode demorar dias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5961888" y="1856232"/>
            <a:ext cx="256032" cy="256032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3"/>
          <p:cNvSpPr/>
          <p:nvPr/>
        </p:nvSpPr>
        <p:spPr>
          <a:xfrm>
            <a:off x="5577840" y="145389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 Dia 5–14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5577840" y="176479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 integra a nota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5577840" y="2276856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Lança com data da NF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365760" y="2944368"/>
            <a:ext cx="8412480" cy="594360"/>
          </a:xfrm>
          <a:prstGeom prst="rect">
            <a:avLst/>
          </a:prstGeom>
          <a:solidFill>
            <a:srgbClr val="FFF5E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Text 17"/>
          <p:cNvSpPr/>
          <p:nvPr/>
        </p:nvSpPr>
        <p:spPr>
          <a:xfrm>
            <a:off x="502920" y="2990088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Resultado: </a:t>
            </a:r>
            <a:r>
              <a:rPr lang="en-US" sz="10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mesmo abastecimento pode aparecer no TMS no dia 01/01 e só aparecer no SAP no dia 10/01 ou depois. Por isso </a:t>
            </a: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é possível cruzar os dados por data</a:t>
            </a:r>
            <a:r>
              <a:rPr lang="en-US" sz="10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o critério de conciliação é pelo valor + nome do posto.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365760" y="3630168"/>
            <a:ext cx="84124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2" name="Text 19"/>
          <p:cNvSpPr/>
          <p:nvPr/>
        </p:nvSpPr>
        <p:spPr>
          <a:xfrm>
            <a:off x="502920" y="367588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real:</a:t>
            </a:r>
            <a:endParaRPr lang="en-US" sz="9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2017318"/>
              </p:ext>
            </p:extLst>
          </p:nvPr>
        </p:nvGraphicFramePr>
        <p:xfrm>
          <a:off x="365760" y="3922776"/>
          <a:ext cx="7498080" cy="713232"/>
        </p:xfrm>
        <a:graphic>
          <a:graphicData uri="http://schemas.openxmlformats.org/drawingml/2006/table">
            <a:tbl>
              <a:tblPr/>
              <a:tblGrid>
                <a:gridCol w="59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83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3774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Posto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Placa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Valor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TMS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86A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12/01/2026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Postos Mahle Brasil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TBG-****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R$ 265,70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SAP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737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09/01/2026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8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Postos Mahle Brasil Comercio de Combusti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8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8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R$ 266,41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4" name="Text 20"/>
          <p:cNvSpPr/>
          <p:nvPr/>
        </p:nvSpPr>
        <p:spPr>
          <a:xfrm>
            <a:off x="365760" y="4754880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Datas diferentes, valores próximos, nome parecido — esse é um par conciliado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chemeClr val="tx1"/>
          </a:solidFill>
          <a:ln w="12700">
            <a:solidFill>
              <a:srgbClr val="0D0D0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475488"/>
            <a:ext cx="9144000" cy="36576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2"/>
          <p:cNvSpPr/>
          <p:nvPr/>
        </p:nvSpPr>
        <p:spPr>
          <a:xfrm>
            <a:off x="2103120" y="557784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os nomes dos postos são diferentes?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365760" y="100584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mesmo posto físico é cadastrado com nomes completamente diferentes nos dois sistemas: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365760" y="1353312"/>
            <a:ext cx="3840480" cy="329184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365760" y="1362456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aparece no TMS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572000" y="1353312"/>
            <a:ext cx="4206240" cy="329184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7"/>
          <p:cNvSpPr/>
          <p:nvPr/>
        </p:nvSpPr>
        <p:spPr>
          <a:xfrm>
            <a:off x="4572000" y="1362456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aparece no SAP (Razão)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65760" y="1737360"/>
            <a:ext cx="384048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Shape 9"/>
          <p:cNvSpPr/>
          <p:nvPr/>
        </p:nvSpPr>
        <p:spPr>
          <a:xfrm>
            <a:off x="4572000" y="1737360"/>
            <a:ext cx="420624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0"/>
          <p:cNvSpPr/>
          <p:nvPr/>
        </p:nvSpPr>
        <p:spPr>
          <a:xfrm>
            <a:off x="457200" y="1801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Postos Mahle Brasil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4663440" y="180136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Postos Mahle Brasil Comercio de Combusti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4206240" y="17556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≠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365760" y="2194560"/>
            <a:ext cx="3840480" cy="402336"/>
          </a:xfrm>
          <a:prstGeom prst="rect">
            <a:avLst/>
          </a:prstGeom>
          <a:solidFill>
            <a:srgbClr val="F4F6F8"/>
          </a:solidFill>
          <a:ln w="1270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Shape 14"/>
          <p:cNvSpPr/>
          <p:nvPr/>
        </p:nvSpPr>
        <p:spPr>
          <a:xfrm>
            <a:off x="4572000" y="2194560"/>
            <a:ext cx="4206240" cy="402336"/>
          </a:xfrm>
          <a:prstGeom prst="rect">
            <a:avLst/>
          </a:prstGeom>
          <a:solidFill>
            <a:srgbClr val="F4F6F8"/>
          </a:solidFill>
          <a:ln w="1270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5"/>
          <p:cNvSpPr/>
          <p:nvPr/>
        </p:nvSpPr>
        <p:spPr>
          <a:xfrm>
            <a:off x="457200" y="22585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Posto o Cupim S...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4663440" y="225856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POSTO O CUPIM SAO JOSE LTDA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4206240" y="22128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≠</a:t>
            </a:r>
            <a:endParaRPr lang="en-US" sz="1800" dirty="0"/>
          </a:p>
        </p:txBody>
      </p:sp>
      <p:sp>
        <p:nvSpPr>
          <p:cNvPr id="21" name="Shape 18"/>
          <p:cNvSpPr/>
          <p:nvPr/>
        </p:nvSpPr>
        <p:spPr>
          <a:xfrm>
            <a:off x="365760" y="2651760"/>
            <a:ext cx="384048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Shape 19"/>
          <p:cNvSpPr/>
          <p:nvPr/>
        </p:nvSpPr>
        <p:spPr>
          <a:xfrm>
            <a:off x="4572000" y="2651760"/>
            <a:ext cx="420624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Text 20"/>
          <p:cNvSpPr/>
          <p:nvPr/>
        </p:nvSpPr>
        <p:spPr>
          <a:xfrm>
            <a:off x="457200" y="27157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Posto Gp Brasil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4663440" y="271576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J.R.F.M COM DE COMBUSTIVEISE LUBRIF</a:t>
            </a:r>
            <a:endParaRPr lang="en-US" sz="950" dirty="0"/>
          </a:p>
        </p:txBody>
      </p:sp>
      <p:sp>
        <p:nvSpPr>
          <p:cNvPr id="25" name="Text 22"/>
          <p:cNvSpPr/>
          <p:nvPr/>
        </p:nvSpPr>
        <p:spPr>
          <a:xfrm>
            <a:off x="4206240" y="26700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≠</a:t>
            </a:r>
            <a:endParaRPr lang="en-US" sz="1800" dirty="0"/>
          </a:p>
        </p:txBody>
      </p:sp>
      <p:sp>
        <p:nvSpPr>
          <p:cNvPr id="26" name="Shape 23"/>
          <p:cNvSpPr/>
          <p:nvPr/>
        </p:nvSpPr>
        <p:spPr>
          <a:xfrm>
            <a:off x="365760" y="3108960"/>
            <a:ext cx="3840480" cy="402336"/>
          </a:xfrm>
          <a:prstGeom prst="rect">
            <a:avLst/>
          </a:prstGeom>
          <a:solidFill>
            <a:srgbClr val="F4F6F8"/>
          </a:solidFill>
          <a:ln w="1270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7" name="Shape 24"/>
          <p:cNvSpPr/>
          <p:nvPr/>
        </p:nvSpPr>
        <p:spPr>
          <a:xfrm>
            <a:off x="4572000" y="3108960"/>
            <a:ext cx="4206240" cy="402336"/>
          </a:xfrm>
          <a:prstGeom prst="rect">
            <a:avLst/>
          </a:prstGeom>
          <a:solidFill>
            <a:srgbClr val="F4F6F8"/>
          </a:solidFill>
          <a:ln w="1270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8" name="Text 25"/>
          <p:cNvSpPr/>
          <p:nvPr/>
        </p:nvSpPr>
        <p:spPr>
          <a:xfrm>
            <a:off x="457200" y="31729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Posto 5 Roda</a:t>
            </a:r>
            <a:endParaRPr lang="en-US" sz="950" dirty="0"/>
          </a:p>
        </p:txBody>
      </p:sp>
      <p:sp>
        <p:nvSpPr>
          <p:cNvPr id="29" name="Text 26"/>
          <p:cNvSpPr/>
          <p:nvPr/>
        </p:nvSpPr>
        <p:spPr>
          <a:xfrm>
            <a:off x="4663440" y="317296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POSTO 5 RODA LTDA</a:t>
            </a:r>
            <a:endParaRPr lang="en-US" sz="950" dirty="0"/>
          </a:p>
        </p:txBody>
      </p:sp>
      <p:sp>
        <p:nvSpPr>
          <p:cNvPr id="30" name="Text 27"/>
          <p:cNvSpPr/>
          <p:nvPr/>
        </p:nvSpPr>
        <p:spPr>
          <a:xfrm>
            <a:off x="4206240" y="31272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≠</a:t>
            </a:r>
            <a:endParaRPr lang="en-US" sz="1800" dirty="0"/>
          </a:p>
        </p:txBody>
      </p:sp>
      <p:sp>
        <p:nvSpPr>
          <p:cNvPr id="31" name="Shape 28"/>
          <p:cNvSpPr/>
          <p:nvPr/>
        </p:nvSpPr>
        <p:spPr>
          <a:xfrm>
            <a:off x="365760" y="3566160"/>
            <a:ext cx="384048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2" name="Shape 29"/>
          <p:cNvSpPr/>
          <p:nvPr/>
        </p:nvSpPr>
        <p:spPr>
          <a:xfrm>
            <a:off x="4572000" y="3566160"/>
            <a:ext cx="420624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3" name="Text 30"/>
          <p:cNvSpPr/>
          <p:nvPr/>
        </p:nvSpPr>
        <p:spPr>
          <a:xfrm>
            <a:off x="457200" y="36301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Pichilau</a:t>
            </a:r>
            <a:endParaRPr lang="en-US" sz="950" dirty="0"/>
          </a:p>
        </p:txBody>
      </p:sp>
      <p:sp>
        <p:nvSpPr>
          <p:cNvPr id="34" name="Text 31"/>
          <p:cNvSpPr/>
          <p:nvPr/>
        </p:nvSpPr>
        <p:spPr>
          <a:xfrm>
            <a:off x="4663440" y="363016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ARLINDO DA FONSECA LINS &amp; CIA LTDA</a:t>
            </a:r>
            <a:endParaRPr lang="en-US" sz="950" dirty="0"/>
          </a:p>
        </p:txBody>
      </p:sp>
      <p:sp>
        <p:nvSpPr>
          <p:cNvPr id="35" name="Text 32"/>
          <p:cNvSpPr/>
          <p:nvPr/>
        </p:nvSpPr>
        <p:spPr>
          <a:xfrm>
            <a:off x="4206240" y="35844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≠</a:t>
            </a:r>
            <a:endParaRPr lang="en-US" sz="1800" dirty="0"/>
          </a:p>
        </p:txBody>
      </p:sp>
      <p:sp>
        <p:nvSpPr>
          <p:cNvPr id="36" name="Shape 33"/>
          <p:cNvSpPr/>
          <p:nvPr/>
        </p:nvSpPr>
        <p:spPr>
          <a:xfrm>
            <a:off x="365760" y="4114800"/>
            <a:ext cx="8412480" cy="749808"/>
          </a:xfrm>
          <a:prstGeom prst="rect">
            <a:avLst/>
          </a:prstGeom>
          <a:solidFill>
            <a:srgbClr val="EBF4FB"/>
          </a:solidFill>
          <a:ln w="1270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7" name="Shape 34"/>
          <p:cNvSpPr/>
          <p:nvPr/>
        </p:nvSpPr>
        <p:spPr>
          <a:xfrm>
            <a:off x="365760" y="4114800"/>
            <a:ext cx="54864" cy="749808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8" name="Text 35"/>
          <p:cNvSpPr/>
          <p:nvPr/>
        </p:nvSpPr>
        <p:spPr>
          <a:xfrm>
            <a:off x="502920" y="416052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Solução — aba 'NOMENCLATURA DOS POSTOS': </a:t>
            </a:r>
            <a:r>
              <a:rPr lang="en-US" sz="95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existe uma tabela de/para com o nome de cada posto como está no SAP e como está no TMS. Sempre que um nome não casar, consulte essa aba antes de concluir que é um posto diferente.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chemeClr val="tx1"/>
          </a:solidFill>
          <a:ln w="12700">
            <a:solidFill>
              <a:srgbClr val="0D0D0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475488"/>
            <a:ext cx="9144000" cy="36576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2"/>
          <p:cNvSpPr/>
          <p:nvPr/>
        </p:nvSpPr>
        <p:spPr>
          <a:xfrm>
            <a:off x="2103120" y="557784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tabela de/para — aba 'NOMENCLATURA DOS POSTOS'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365760" y="100584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Essa aba é o dicionário que resolve o problema dos nomes diferentes entre os sistemas:</a:t>
            </a:r>
            <a:endParaRPr lang="en-US" sz="1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371600"/>
          <a:ext cx="8412480" cy="2496312"/>
        </p:xfrm>
        <a:graphic>
          <a:graphicData uri="http://schemas.openxmlformats.org/drawingml/2006/table">
            <a:tbl>
              <a:tblPr/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661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Nome no SAP (Razão)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737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Nome no TMS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86A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Observação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Postos Mahle Brasil Comercio de Combusti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Postos Mahle Brasil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i="1" dirty="0">
                          <a:solidFill>
                            <a:srgbClr val="5A64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Nome truncado no TMS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 POSTO O CUPIM SAO JOSE LTDA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 Posto o Cupim S...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i="1" dirty="0">
                          <a:solidFill>
                            <a:srgbClr val="5A64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Razão social vs abreviado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J.R.F.M COM DE COMBUSTIVEISE LUBRIF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Posto Gp Brasil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i="1" dirty="0">
                          <a:solidFill>
                            <a:srgbClr val="5A64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Nome fantasia vs razão social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 POSTO 5 RODA LTDA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 Posto 5 Roda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i="1" dirty="0">
                          <a:solidFill>
                            <a:srgbClr val="5A64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 e sem LTDA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ARLINDO DA FONSECA LINS &amp; CIA LTDA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Pichilau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i="1" dirty="0">
                          <a:solidFill>
                            <a:srgbClr val="5A64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Apelido vs razão social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E RODRIGUES GOMES LTDA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Posto Piloto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i="1" dirty="0">
                          <a:solidFill>
                            <a:srgbClr val="5A64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Apelido vs razão social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365760" y="437083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Dica: </a:t>
            </a:r>
            <a:r>
              <a:rPr lang="en-US" sz="95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encontrar um nome que não está nessa tabela e parecer ser um posto novo, cadastre o de/para antes de continuar a conciliação.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475488"/>
            <a:ext cx="9144000" cy="36576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2"/>
          <p:cNvSpPr/>
          <p:nvPr/>
        </p:nvSpPr>
        <p:spPr>
          <a:xfrm>
            <a:off x="2103120" y="557784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a passo — como fazer a conciliação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365760" y="1170432"/>
            <a:ext cx="41148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7" name="Shape 4"/>
          <p:cNvSpPr/>
          <p:nvPr/>
        </p:nvSpPr>
        <p:spPr>
          <a:xfrm>
            <a:off x="365760" y="1170432"/>
            <a:ext cx="457200" cy="109728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365760" y="1490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914400" y="12344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Exporte as planilhas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914400" y="155448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Exporte o TMS do sistema de gestão de transporte e a Razão do SAP para o período desejado. Salve os dois arquivos.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365760" y="2404872"/>
            <a:ext cx="41148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2" name="Shape 9"/>
          <p:cNvSpPr/>
          <p:nvPr/>
        </p:nvSpPr>
        <p:spPr>
          <a:xfrm>
            <a:off x="365760" y="2404872"/>
            <a:ext cx="457200" cy="109728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0"/>
          <p:cNvSpPr/>
          <p:nvPr/>
        </p:nvSpPr>
        <p:spPr>
          <a:xfrm>
            <a:off x="365760" y="27249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914400" y="24688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Abra o Relatório Combustível 2026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914400" y="278892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 é o arquivo de trabalho. Ele já tem as abas estruturadas: Conciliados, Divergências, SAP s/conciliação, TMS s/conciliação.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365760" y="3639312"/>
            <a:ext cx="41148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7" name="Shape 14"/>
          <p:cNvSpPr/>
          <p:nvPr/>
        </p:nvSpPr>
        <p:spPr>
          <a:xfrm>
            <a:off x="365760" y="3639312"/>
            <a:ext cx="457200" cy="109728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5"/>
          <p:cNvSpPr/>
          <p:nvPr/>
        </p:nvSpPr>
        <p:spPr>
          <a:xfrm>
            <a:off x="365760" y="39593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914400" y="37033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Consulte a tabela de/para (aba NOMENCLATURA)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914400" y="402336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começar, revise a aba de nomes para saber como cada posto está cadastrado nos dois sistemas.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4663440" y="1170432"/>
            <a:ext cx="41148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2" name="Shape 19"/>
          <p:cNvSpPr/>
          <p:nvPr/>
        </p:nvSpPr>
        <p:spPr>
          <a:xfrm>
            <a:off x="4663440" y="1170432"/>
            <a:ext cx="457200" cy="109728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Text 20"/>
          <p:cNvSpPr/>
          <p:nvPr/>
        </p:nvSpPr>
        <p:spPr>
          <a:xfrm>
            <a:off x="4663440" y="1490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4" name="Text 21"/>
          <p:cNvSpPr/>
          <p:nvPr/>
        </p:nvSpPr>
        <p:spPr>
          <a:xfrm>
            <a:off x="5212080" y="12344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Cruze por valor + nome do posto</a:t>
            </a:r>
            <a:endParaRPr lang="en-US" sz="950" dirty="0"/>
          </a:p>
        </p:txBody>
      </p:sp>
      <p:sp>
        <p:nvSpPr>
          <p:cNvPr id="25" name="Text 22"/>
          <p:cNvSpPr/>
          <p:nvPr/>
        </p:nvSpPr>
        <p:spPr>
          <a:xfrm>
            <a:off x="5212080" y="155448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cada registro do SAP, procure no TMS um valor igual ou próximo (diferença de centavos é normal) com nome de posto correspondente.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4663440" y="2404872"/>
            <a:ext cx="41148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7" name="Shape 24"/>
          <p:cNvSpPr/>
          <p:nvPr/>
        </p:nvSpPr>
        <p:spPr>
          <a:xfrm>
            <a:off x="4663440" y="2404872"/>
            <a:ext cx="457200" cy="1097280"/>
          </a:xfrm>
          <a:prstGeom prst="rect">
            <a:avLst/>
          </a:prstGeom>
          <a:solidFill>
            <a:srgbClr val="22863A"/>
          </a:solidFill>
          <a:ln w="12700">
            <a:solidFill>
              <a:srgbClr val="22863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8" name="Text 25"/>
          <p:cNvSpPr/>
          <p:nvPr/>
        </p:nvSpPr>
        <p:spPr>
          <a:xfrm>
            <a:off x="4663440" y="27249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9" name="Text 26"/>
          <p:cNvSpPr/>
          <p:nvPr/>
        </p:nvSpPr>
        <p:spPr>
          <a:xfrm>
            <a:off x="5212080" y="24688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Classifique cada registro</a:t>
            </a:r>
            <a:endParaRPr lang="en-US" sz="950" dirty="0"/>
          </a:p>
        </p:txBody>
      </p:sp>
      <p:sp>
        <p:nvSpPr>
          <p:cNvPr id="30" name="Text 27"/>
          <p:cNvSpPr/>
          <p:nvPr/>
        </p:nvSpPr>
        <p:spPr>
          <a:xfrm>
            <a:off x="5212080" y="278892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Conciliado / Divergência / SAP s/conciliação / TMS s/conciliação — veja o slide seguinte para entender cada status.</a:t>
            </a:r>
            <a:endParaRPr lang="en-US" sz="850" dirty="0"/>
          </a:p>
        </p:txBody>
      </p:sp>
      <p:sp>
        <p:nvSpPr>
          <p:cNvPr id="31" name="Shape 28"/>
          <p:cNvSpPr/>
          <p:nvPr/>
        </p:nvSpPr>
        <p:spPr>
          <a:xfrm>
            <a:off x="4663440" y="3639312"/>
            <a:ext cx="41148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2" name="Shape 29"/>
          <p:cNvSpPr/>
          <p:nvPr/>
        </p:nvSpPr>
        <p:spPr>
          <a:xfrm>
            <a:off x="4663440" y="3639312"/>
            <a:ext cx="457200" cy="1097280"/>
          </a:xfrm>
          <a:prstGeom prst="rect">
            <a:avLst/>
          </a:prstGeom>
          <a:solidFill>
            <a:srgbClr val="7B3F9E"/>
          </a:solidFill>
          <a:ln w="12700">
            <a:solidFill>
              <a:srgbClr val="7B3F9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3" name="Text 30"/>
          <p:cNvSpPr/>
          <p:nvPr/>
        </p:nvSpPr>
        <p:spPr>
          <a:xfrm>
            <a:off x="4663440" y="39593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34" name="Text 31"/>
          <p:cNvSpPr/>
          <p:nvPr/>
        </p:nvSpPr>
        <p:spPr>
          <a:xfrm>
            <a:off x="5212080" y="37033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Registre no Relatório Completo</a:t>
            </a:r>
            <a:endParaRPr lang="en-US" sz="950" dirty="0"/>
          </a:p>
        </p:txBody>
      </p:sp>
      <p:sp>
        <p:nvSpPr>
          <p:cNvPr id="35" name="Text 32"/>
          <p:cNvSpPr/>
          <p:nvPr/>
        </p:nvSpPr>
        <p:spPr>
          <a:xfrm>
            <a:off x="5212080" y="402336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Preencha: Status, Data SAP, Data TMS, Posto SAP, Posto TMS, Placa (do TMS), Valor SAP, Valor TMS, Diferença.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chemeClr val="tx1"/>
          </a:solidFill>
          <a:ln w="12700">
            <a:solidFill>
              <a:srgbClr val="0D0D0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475488"/>
            <a:ext cx="9144000" cy="36576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2"/>
          <p:cNvSpPr/>
          <p:nvPr/>
        </p:nvSpPr>
        <p:spPr>
          <a:xfrm>
            <a:off x="2103120" y="557784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4 status possíveis de cada registro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365760" y="100584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 final da análise, cada lançamento receberá um dos seguintes status: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365760" y="1371600"/>
            <a:ext cx="4114800" cy="1664208"/>
          </a:xfrm>
          <a:prstGeom prst="rect">
            <a:avLst/>
          </a:prstGeom>
          <a:solidFill>
            <a:srgbClr val="E8F5E9"/>
          </a:solidFill>
          <a:ln w="12700">
            <a:solidFill>
              <a:srgbClr val="22863A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8" name="Shape 5"/>
          <p:cNvSpPr/>
          <p:nvPr/>
        </p:nvSpPr>
        <p:spPr>
          <a:xfrm>
            <a:off x="365760" y="1371600"/>
            <a:ext cx="4114800" cy="310896"/>
          </a:xfrm>
          <a:prstGeom prst="rect">
            <a:avLst/>
          </a:prstGeom>
          <a:solidFill>
            <a:srgbClr val="22863A"/>
          </a:solidFill>
          <a:ln w="12700">
            <a:solidFill>
              <a:srgbClr val="22863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6"/>
          <p:cNvSpPr/>
          <p:nvPr/>
        </p:nvSpPr>
        <p:spPr>
          <a:xfrm>
            <a:off x="457200" y="1408176"/>
            <a:ext cx="3931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CONCILIADO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457200" y="171907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Foi encontrado um lançamento correspondente nos dois sistemas.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457200" y="1993392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par foi identificado com valor igual (ou diferença de centavos aceitável) e nome de posto equivalente na tabela de/para.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457200" y="2496312"/>
            <a:ext cx="3931920" cy="18288"/>
          </a:xfrm>
          <a:prstGeom prst="rect">
            <a:avLst/>
          </a:prstGeom>
          <a:solidFill>
            <a:srgbClr val="22863A"/>
          </a:solidFill>
          <a:ln w="12700">
            <a:solidFill>
              <a:srgbClr val="22863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0"/>
          <p:cNvSpPr/>
          <p:nvPr/>
        </p:nvSpPr>
        <p:spPr>
          <a:xfrm>
            <a:off x="457200" y="2542032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Ex: TMS: R$ 3.717,41 — Auto Posto o Cupim</a:t>
            </a:r>
            <a:endParaRPr lang="en-US" sz="750" dirty="0"/>
          </a:p>
          <a:p>
            <a:pPr marL="0" indent="0">
              <a:buNone/>
            </a:pPr>
            <a:r>
              <a:rPr lang="en-US" sz="750" i="1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SAP: R$ 3.717,41 — AUTO POSTO O CUPIM SAO JOSE LTDA</a:t>
            </a:r>
            <a:endParaRPr lang="en-US" sz="750" dirty="0"/>
          </a:p>
        </p:txBody>
      </p:sp>
      <p:sp>
        <p:nvSpPr>
          <p:cNvPr id="14" name="Shape 11"/>
          <p:cNvSpPr/>
          <p:nvPr/>
        </p:nvSpPr>
        <p:spPr>
          <a:xfrm>
            <a:off x="4663440" y="1371600"/>
            <a:ext cx="4114800" cy="1664208"/>
          </a:xfrm>
          <a:prstGeom prst="rect">
            <a:avLst/>
          </a:prstGeom>
          <a:solidFill>
            <a:srgbClr val="FFF8E1"/>
          </a:solidFill>
          <a:ln w="12700">
            <a:solidFill>
              <a:srgbClr val="D4920A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5" name="Shape 12"/>
          <p:cNvSpPr/>
          <p:nvPr/>
        </p:nvSpPr>
        <p:spPr>
          <a:xfrm>
            <a:off x="4663440" y="1371600"/>
            <a:ext cx="4114800" cy="310896"/>
          </a:xfrm>
          <a:prstGeom prst="rect">
            <a:avLst/>
          </a:prstGeom>
          <a:solidFill>
            <a:srgbClr val="D4920A"/>
          </a:solidFill>
          <a:ln w="12700">
            <a:solidFill>
              <a:srgbClr val="D4920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3"/>
          <p:cNvSpPr/>
          <p:nvPr/>
        </p:nvSpPr>
        <p:spPr>
          <a:xfrm>
            <a:off x="4754880" y="1408176"/>
            <a:ext cx="3931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DIVERGÊNCIA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4754880" y="171907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Foi encontrado um par, mas os valores são diferentes.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4754880" y="1993392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registros batem por posto e período próximo, mas há diferença de valor que precisa ser investigada com o posto ou financeiro.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4754880" y="2496312"/>
            <a:ext cx="3931920" cy="18288"/>
          </a:xfrm>
          <a:prstGeom prst="rect">
            <a:avLst/>
          </a:prstGeom>
          <a:solidFill>
            <a:srgbClr val="D4920A"/>
          </a:solidFill>
          <a:ln w="12700">
            <a:solidFill>
              <a:srgbClr val="D4920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Text 17"/>
          <p:cNvSpPr/>
          <p:nvPr/>
        </p:nvSpPr>
        <p:spPr>
          <a:xfrm>
            <a:off x="4754880" y="2542032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Ex: TMS: R$ 265,70 — Postos Mahle Brasil</a:t>
            </a:r>
            <a:endParaRPr lang="en-US" sz="750" dirty="0"/>
          </a:p>
          <a:p>
            <a:pPr marL="0" indent="0">
              <a:buNone/>
            </a:pPr>
            <a:r>
              <a:rPr lang="en-US" sz="750" i="1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SAP: R$ 266,41 — Postos Mahle Brasil Comercio (dif: R$ 0,71)</a:t>
            </a:r>
            <a:endParaRPr lang="en-US" sz="750" dirty="0"/>
          </a:p>
        </p:txBody>
      </p:sp>
      <p:sp>
        <p:nvSpPr>
          <p:cNvPr id="21" name="Shape 18"/>
          <p:cNvSpPr/>
          <p:nvPr/>
        </p:nvSpPr>
        <p:spPr>
          <a:xfrm>
            <a:off x="365760" y="3218688"/>
            <a:ext cx="4114800" cy="1664208"/>
          </a:xfrm>
          <a:prstGeom prst="rect">
            <a:avLst/>
          </a:prstGeom>
          <a:solidFill>
            <a:srgbClr val="FDECEA"/>
          </a:solidFill>
          <a:ln w="12700">
            <a:solidFill>
              <a:srgbClr val="C0392B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2" name="Shape 19"/>
          <p:cNvSpPr/>
          <p:nvPr/>
        </p:nvSpPr>
        <p:spPr>
          <a:xfrm>
            <a:off x="365760" y="3218688"/>
            <a:ext cx="4114800" cy="310896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Text 20"/>
          <p:cNvSpPr/>
          <p:nvPr/>
        </p:nvSpPr>
        <p:spPr>
          <a:xfrm>
            <a:off x="457200" y="3255264"/>
            <a:ext cx="3931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 SAP S/CONCILIAÇÃO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457200" y="35661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Lançamento existe no SAP mas não tem par no TMS.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457200" y="3840480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Pode ser veículo terceirizado não registrado no TMS, NF duplicada ou lançamento de período diferente ainda sem correspondência.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457200" y="4343400"/>
            <a:ext cx="3931920" cy="1828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7" name="Text 24"/>
          <p:cNvSpPr/>
          <p:nvPr/>
        </p:nvSpPr>
        <p:spPr>
          <a:xfrm>
            <a:off x="457200" y="4389120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Ex: SAP: R$ 331,45 — Postos Mahle Brasil Comercio (NE 184)</a:t>
            </a:r>
            <a:endParaRPr lang="en-US" sz="750" dirty="0"/>
          </a:p>
          <a:p>
            <a:pPr marL="0" indent="0">
              <a:buNone/>
            </a:pPr>
            <a:r>
              <a:rPr lang="en-US" sz="750" i="1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há abastecimento com esse valor no TMS.</a:t>
            </a:r>
            <a:endParaRPr lang="en-US" sz="750" dirty="0"/>
          </a:p>
        </p:txBody>
      </p:sp>
      <p:sp>
        <p:nvSpPr>
          <p:cNvPr id="28" name="Shape 25"/>
          <p:cNvSpPr/>
          <p:nvPr/>
        </p:nvSpPr>
        <p:spPr>
          <a:xfrm>
            <a:off x="4663440" y="3218688"/>
            <a:ext cx="4114800" cy="1664208"/>
          </a:xfrm>
          <a:prstGeom prst="rect">
            <a:avLst/>
          </a:prstGeom>
          <a:solidFill>
            <a:srgbClr val="E3F2FD"/>
          </a:solidFill>
          <a:ln w="12700">
            <a:solidFill>
              <a:srgbClr val="2E86AB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9" name="Shape 26"/>
          <p:cNvSpPr/>
          <p:nvPr/>
        </p:nvSpPr>
        <p:spPr>
          <a:xfrm>
            <a:off x="4663440" y="3218688"/>
            <a:ext cx="4114800" cy="310896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0" name="Text 27"/>
          <p:cNvSpPr/>
          <p:nvPr/>
        </p:nvSpPr>
        <p:spPr>
          <a:xfrm>
            <a:off x="4754880" y="3255264"/>
            <a:ext cx="3931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🔵  TMS S/CONCILIAÇÃO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4754880" y="35661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Abastecimento existe no TMS mas a NF ainda não chegou no SAP.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4754880" y="3840480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para abastecimentos recentes — o posto ainda não emitiu a nota fiscal. Monitorar nos próximos ciclos.</a:t>
            </a:r>
            <a:endParaRPr lang="en-US" sz="850" dirty="0"/>
          </a:p>
        </p:txBody>
      </p:sp>
      <p:sp>
        <p:nvSpPr>
          <p:cNvPr id="33" name="Shape 30"/>
          <p:cNvSpPr/>
          <p:nvPr/>
        </p:nvSpPr>
        <p:spPr>
          <a:xfrm>
            <a:off x="4754880" y="4343400"/>
            <a:ext cx="3931920" cy="18288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4" name="Text 31"/>
          <p:cNvSpPr/>
          <p:nvPr/>
        </p:nvSpPr>
        <p:spPr>
          <a:xfrm>
            <a:off x="4754880" y="4389120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Ex: TMS: R$ 212,51 — Posto Gp Brasil — AZK-**** — 11/03/2026</a:t>
            </a:r>
            <a:endParaRPr lang="en-US" sz="750" dirty="0"/>
          </a:p>
          <a:p>
            <a:pPr marL="0" indent="0">
              <a:buNone/>
            </a:pPr>
            <a:r>
              <a:rPr lang="en-US" sz="750" i="1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há NF correspondente no SAP ainda.</a:t>
            </a:r>
            <a:endParaRPr lang="en-US" sz="7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chemeClr val="tx1"/>
          </a:solidFill>
          <a:ln w="12700">
            <a:solidFill>
              <a:srgbClr val="0D0D0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475488"/>
            <a:ext cx="9144000" cy="36576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2"/>
          <p:cNvSpPr/>
          <p:nvPr/>
        </p:nvSpPr>
        <p:spPr>
          <a:xfrm>
            <a:off x="2103120" y="557784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final — estrutura do Relatório Combustível 2026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365760" y="100584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relatório final tem as seguintes abas. Cada uma tem um papel específico: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365760" y="1371600"/>
            <a:ext cx="41148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8" name="Shape 5"/>
          <p:cNvSpPr/>
          <p:nvPr/>
        </p:nvSpPr>
        <p:spPr>
          <a:xfrm>
            <a:off x="365760" y="1371600"/>
            <a:ext cx="54864" cy="77724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6"/>
          <p:cNvSpPr/>
          <p:nvPr/>
        </p:nvSpPr>
        <p:spPr>
          <a:xfrm>
            <a:off x="521208" y="143560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521208" y="1700784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Resumo visual com totais por mês e por tipo de combustível (Diesel S10, Gasolina, Arla32) comparando TMS vs SAP.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365760" y="2258568"/>
            <a:ext cx="41148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2" name="Shape 9"/>
          <p:cNvSpPr/>
          <p:nvPr/>
        </p:nvSpPr>
        <p:spPr>
          <a:xfrm>
            <a:off x="365760" y="2258568"/>
            <a:ext cx="54864" cy="77724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0"/>
          <p:cNvSpPr/>
          <p:nvPr/>
        </p:nvSpPr>
        <p:spPr>
          <a:xfrm>
            <a:off x="521208" y="2322576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521208" y="2587752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Indicadores de conciliação: total abastecimentos TMS, total lançamentos SAP, % conciliado, divergências e valores pendentes.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365760" y="3145536"/>
            <a:ext cx="41148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6" name="Shape 13"/>
          <p:cNvSpPr/>
          <p:nvPr/>
        </p:nvSpPr>
        <p:spPr>
          <a:xfrm>
            <a:off x="365760" y="3145536"/>
            <a:ext cx="54864" cy="77724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4"/>
          <p:cNvSpPr/>
          <p:nvPr/>
        </p:nvSpPr>
        <p:spPr>
          <a:xfrm>
            <a:off x="521208" y="3209544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Relatório Completo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521208" y="3474720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os registros de TMS e SAP em uma única visão consolidada com o status de cada um.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365760" y="4032504"/>
            <a:ext cx="41148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0" name="Shape 17"/>
          <p:cNvSpPr/>
          <p:nvPr/>
        </p:nvSpPr>
        <p:spPr>
          <a:xfrm>
            <a:off x="365760" y="4032504"/>
            <a:ext cx="54864" cy="777240"/>
          </a:xfrm>
          <a:prstGeom prst="rect">
            <a:avLst/>
          </a:prstGeom>
          <a:solidFill>
            <a:srgbClr val="22863A"/>
          </a:solidFill>
          <a:ln w="12700">
            <a:solidFill>
              <a:srgbClr val="22863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Text 18"/>
          <p:cNvSpPr/>
          <p:nvPr/>
        </p:nvSpPr>
        <p:spPr>
          <a:xfrm>
            <a:off x="521208" y="409651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Conciliados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521208" y="4361688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Apenas os pares confirmados nos dois sistemas — valor e posto correspondentes.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663440" y="1371600"/>
            <a:ext cx="41148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4" name="Shape 21"/>
          <p:cNvSpPr/>
          <p:nvPr/>
        </p:nvSpPr>
        <p:spPr>
          <a:xfrm>
            <a:off x="4663440" y="1371600"/>
            <a:ext cx="54864" cy="777240"/>
          </a:xfrm>
          <a:prstGeom prst="rect">
            <a:avLst/>
          </a:prstGeom>
          <a:solidFill>
            <a:srgbClr val="D4920A"/>
          </a:solidFill>
          <a:ln w="12700">
            <a:solidFill>
              <a:srgbClr val="D4920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Text 22"/>
          <p:cNvSpPr/>
          <p:nvPr/>
        </p:nvSpPr>
        <p:spPr>
          <a:xfrm>
            <a:off x="4818888" y="143560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Divergências</a:t>
            </a: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4818888" y="1700784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Pares encontrados mas com diferença de valor — precisam de análise e tratativa.</a:t>
            </a:r>
            <a:endParaRPr lang="en-US" sz="850" dirty="0"/>
          </a:p>
        </p:txBody>
      </p:sp>
      <p:sp>
        <p:nvSpPr>
          <p:cNvPr id="27" name="Shape 24"/>
          <p:cNvSpPr/>
          <p:nvPr/>
        </p:nvSpPr>
        <p:spPr>
          <a:xfrm>
            <a:off x="4663440" y="2258568"/>
            <a:ext cx="41148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8" name="Shape 25"/>
          <p:cNvSpPr/>
          <p:nvPr/>
        </p:nvSpPr>
        <p:spPr>
          <a:xfrm>
            <a:off x="4663440" y="2258568"/>
            <a:ext cx="54864" cy="7772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9" name="Text 26"/>
          <p:cNvSpPr/>
          <p:nvPr/>
        </p:nvSpPr>
        <p:spPr>
          <a:xfrm>
            <a:off x="4818888" y="2322576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 s/conciliação</a:t>
            </a:r>
            <a:endParaRPr lang="en-US" sz="950" dirty="0"/>
          </a:p>
        </p:txBody>
      </p:sp>
      <p:sp>
        <p:nvSpPr>
          <p:cNvPr id="30" name="Text 27"/>
          <p:cNvSpPr/>
          <p:nvPr/>
        </p:nvSpPr>
        <p:spPr>
          <a:xfrm>
            <a:off x="4818888" y="2587752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Lançamentos do SAP sem correspondência no TMS — verificar com financeiro.</a:t>
            </a:r>
            <a:endParaRPr lang="en-US" sz="850" dirty="0"/>
          </a:p>
        </p:txBody>
      </p:sp>
      <p:sp>
        <p:nvSpPr>
          <p:cNvPr id="31" name="Shape 28"/>
          <p:cNvSpPr/>
          <p:nvPr/>
        </p:nvSpPr>
        <p:spPr>
          <a:xfrm>
            <a:off x="4663440" y="3145536"/>
            <a:ext cx="41148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2" name="Shape 29"/>
          <p:cNvSpPr/>
          <p:nvPr/>
        </p:nvSpPr>
        <p:spPr>
          <a:xfrm>
            <a:off x="4663440" y="3145536"/>
            <a:ext cx="54864" cy="77724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3" name="Text 30"/>
          <p:cNvSpPr/>
          <p:nvPr/>
        </p:nvSpPr>
        <p:spPr>
          <a:xfrm>
            <a:off x="4818888" y="3209544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TMS s/conciliação</a:t>
            </a:r>
            <a:endParaRPr lang="en-US" sz="950" dirty="0"/>
          </a:p>
        </p:txBody>
      </p:sp>
      <p:sp>
        <p:nvSpPr>
          <p:cNvPr id="34" name="Text 31"/>
          <p:cNvSpPr/>
          <p:nvPr/>
        </p:nvSpPr>
        <p:spPr>
          <a:xfrm>
            <a:off x="4818888" y="3474720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Abastecimentos do TMS sem NF no SAP — monitorar nos próximos ciclos.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4663440" y="4032504"/>
            <a:ext cx="41148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6" name="Shape 33"/>
          <p:cNvSpPr/>
          <p:nvPr/>
        </p:nvSpPr>
        <p:spPr>
          <a:xfrm>
            <a:off x="4663440" y="4032504"/>
            <a:ext cx="54864" cy="777240"/>
          </a:xfrm>
          <a:prstGeom prst="rect">
            <a:avLst/>
          </a:prstGeom>
          <a:solidFill>
            <a:srgbClr val="7B3F9E"/>
          </a:solidFill>
          <a:ln w="12700">
            <a:solidFill>
              <a:srgbClr val="7B3F9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7" name="Text 34"/>
          <p:cNvSpPr/>
          <p:nvPr/>
        </p:nvSpPr>
        <p:spPr>
          <a:xfrm>
            <a:off x="4818888" y="409651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NOMENCLATURA DOS POSTOS</a:t>
            </a:r>
            <a:endParaRPr lang="en-US" sz="950" dirty="0"/>
          </a:p>
        </p:txBody>
      </p:sp>
      <p:sp>
        <p:nvSpPr>
          <p:cNvPr id="38" name="Text 35"/>
          <p:cNvSpPr/>
          <p:nvPr/>
        </p:nvSpPr>
        <p:spPr>
          <a:xfrm>
            <a:off x="4818888" y="4361688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Tabela de/para com o nome de cada posto no SAP e o equivalente no TMS. Manter sempre atualizada.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2167</Words>
  <Application>Microsoft Office PowerPoint</Application>
  <PresentationFormat>Apresentação na tela (16:9)</PresentationFormat>
  <Paragraphs>305</Paragraphs>
  <Slides>14</Slides>
  <Notes>12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Instrução de Trabalho — Conciliação de Combustíveis</dc:title>
  <dc:subject>PptxGenJS Presentation</dc:subject>
  <dc:creator>PptxGenJS</dc:creator>
  <cp:lastModifiedBy>Isabelli Cristina Pereira da Silva</cp:lastModifiedBy>
  <cp:revision>2</cp:revision>
  <dcterms:created xsi:type="dcterms:W3CDTF">2026-03-16T13:19:13Z</dcterms:created>
  <dcterms:modified xsi:type="dcterms:W3CDTF">2026-04-21T01:38:45Z</dcterms:modified>
</cp:coreProperties>
</file>